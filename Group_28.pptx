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League Spartan" charset="1" panose="00000800000000000000"/>
      <p:regular r:id="rId20"/>
    </p:embeddedFont>
    <p:embeddedFont>
      <p:font typeface="DM Sans" charset="1" panose="00000000000000000000"/>
      <p:regular r:id="rId21"/>
    </p:embeddedFont>
    <p:embeddedFont>
      <p:font typeface="DG Jory" charset="1" panose="02000000000000000000"/>
      <p:regular r:id="rId22"/>
    </p:embeddedFont>
    <p:embeddedFont>
      <p:font typeface="DG Jory Bold" charset="1" panose="020000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3.png" Type="http://schemas.openxmlformats.org/officeDocument/2006/relationships/image"/><Relationship Id="rId13" Target="../media/image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 Id="rId9"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11" Target="../media/image14.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 Id="rId9" Target="../media/image2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2" Target="../media/image25.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28.jpeg" Type="http://schemas.openxmlformats.org/officeDocument/2006/relationships/image"/><Relationship Id="rId8" Target="../media/image29.jpeg" Type="http://schemas.openxmlformats.org/officeDocument/2006/relationships/image"/><Relationship Id="rId9" Target="../media/image30.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607933" y="59261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680067" y="-2511057"/>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2933571" y="2060854"/>
            <a:ext cx="11674362" cy="3667125"/>
          </a:xfrm>
          <a:prstGeom prst="rect">
            <a:avLst/>
          </a:prstGeom>
        </p:spPr>
        <p:txBody>
          <a:bodyPr anchor="t" rtlCol="false" tIns="0" lIns="0" bIns="0" rIns="0">
            <a:spAutoFit/>
          </a:bodyPr>
          <a:lstStyle/>
          <a:p>
            <a:pPr algn="ctr">
              <a:lnSpc>
                <a:spcPts val="7200"/>
              </a:lnSpc>
            </a:pPr>
            <a:r>
              <a:rPr lang="en-US" sz="6000">
                <a:solidFill>
                  <a:srgbClr val="000000"/>
                </a:solidFill>
                <a:latin typeface="League Spartan"/>
                <a:ea typeface="League Spartan"/>
                <a:cs typeface="League Spartan"/>
                <a:sym typeface="League Spartan"/>
              </a:rPr>
              <a:t>SELF-OPTIMAL CLUSTERING TECHNIQUE </a:t>
            </a:r>
          </a:p>
          <a:p>
            <a:pPr algn="ctr">
              <a:lnSpc>
                <a:spcPts val="7200"/>
              </a:lnSpc>
            </a:pPr>
            <a:r>
              <a:rPr lang="en-US" sz="6000">
                <a:solidFill>
                  <a:srgbClr val="000000"/>
                </a:solidFill>
                <a:latin typeface="League Spartan"/>
                <a:ea typeface="League Spartan"/>
                <a:cs typeface="League Spartan"/>
                <a:sym typeface="League Spartan"/>
              </a:rPr>
              <a:t>USING OPTIMIZED THRESHOLD FUNCTION</a:t>
            </a:r>
          </a:p>
        </p:txBody>
      </p:sp>
      <p:sp>
        <p:nvSpPr>
          <p:cNvPr name="TextBox 7" id="7"/>
          <p:cNvSpPr txBox="true"/>
          <p:nvPr/>
        </p:nvSpPr>
        <p:spPr>
          <a:xfrm rot="0">
            <a:off x="3680067" y="6896735"/>
            <a:ext cx="10564093" cy="1736725"/>
          </a:xfrm>
          <a:prstGeom prst="rect">
            <a:avLst/>
          </a:prstGeom>
        </p:spPr>
        <p:txBody>
          <a:bodyPr anchor="t" rtlCol="false" tIns="0" lIns="0" bIns="0" rIns="0">
            <a:spAutoFit/>
          </a:bodyPr>
          <a:lstStyle/>
          <a:p>
            <a:pPr algn="ctr">
              <a:lnSpc>
                <a:spcPts val="3499"/>
              </a:lnSpc>
            </a:pPr>
            <a:r>
              <a:rPr lang="en-US" sz="2499">
                <a:solidFill>
                  <a:srgbClr val="000000"/>
                </a:solidFill>
                <a:latin typeface="DM Sans"/>
                <a:ea typeface="DM Sans"/>
                <a:cs typeface="DM Sans"/>
                <a:sym typeface="DM Sans"/>
              </a:rPr>
              <a:t>Aditya Nitin Patil(230074)</a:t>
            </a:r>
          </a:p>
          <a:p>
            <a:pPr algn="ctr">
              <a:lnSpc>
                <a:spcPts val="3499"/>
              </a:lnSpc>
            </a:pPr>
            <a:r>
              <a:rPr lang="en-US" sz="2499">
                <a:solidFill>
                  <a:srgbClr val="000000"/>
                </a:solidFill>
                <a:latin typeface="DM Sans"/>
                <a:ea typeface="DM Sans"/>
                <a:cs typeface="DM Sans"/>
                <a:sym typeface="DM Sans"/>
              </a:rPr>
              <a:t>Anurag Sharma(230174)</a:t>
            </a:r>
          </a:p>
          <a:p>
            <a:pPr algn="ctr">
              <a:lnSpc>
                <a:spcPts val="3499"/>
              </a:lnSpc>
            </a:pPr>
            <a:r>
              <a:rPr lang="en-US" sz="2499">
                <a:solidFill>
                  <a:srgbClr val="000000"/>
                </a:solidFill>
                <a:latin typeface="DM Sans"/>
                <a:ea typeface="DM Sans"/>
                <a:cs typeface="DM Sans"/>
                <a:sym typeface="DM Sans"/>
              </a:rPr>
              <a:t>Nonit Gupta (230712)</a:t>
            </a:r>
          </a:p>
          <a:p>
            <a:pPr algn="ctr">
              <a:lnSpc>
                <a:spcPts val="3499"/>
              </a:lnSpc>
              <a:spcBef>
                <a:spcPct val="0"/>
              </a:spcBef>
            </a:pPr>
            <a:r>
              <a:rPr lang="en-US" sz="2499">
                <a:solidFill>
                  <a:srgbClr val="000000"/>
                </a:solidFill>
                <a:latin typeface="DM Sans"/>
                <a:ea typeface="DM Sans"/>
                <a:cs typeface="DM Sans"/>
                <a:sym typeface="DM Sans"/>
              </a:rPr>
              <a:t>Sachin Kumhar (230891)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6020086" y="154873"/>
            <a:ext cx="5994124" cy="1773322"/>
            <a:chOff x="0" y="0"/>
            <a:chExt cx="2747400" cy="812800"/>
          </a:xfrm>
        </p:grpSpPr>
        <p:sp>
          <p:nvSpPr>
            <p:cNvPr name="Freeform 7" id="7"/>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8" id="8"/>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6162270" y="297057"/>
            <a:ext cx="5994124" cy="1773322"/>
            <a:chOff x="0" y="0"/>
            <a:chExt cx="2747400" cy="812800"/>
          </a:xfrm>
        </p:grpSpPr>
        <p:sp>
          <p:nvSpPr>
            <p:cNvPr name="Freeform 10" id="10"/>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name="TextBox 11" id="11"/>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066531" y="2328971"/>
            <a:ext cx="11901236" cy="8522060"/>
          </a:xfrm>
          <a:prstGeom prst="rect">
            <a:avLst/>
          </a:prstGeom>
        </p:spPr>
        <p:txBody>
          <a:bodyPr anchor="t" rtlCol="false" tIns="0" lIns="0" bIns="0" rIns="0">
            <a:spAutoFit/>
          </a:bodyPr>
          <a:lstStyle/>
          <a:p>
            <a:pPr algn="l">
              <a:lnSpc>
                <a:spcPts val="4513"/>
              </a:lnSpc>
            </a:pPr>
          </a:p>
          <a:p>
            <a:pPr algn="l" marL="696075" indent="-348037" lvl="1">
              <a:lnSpc>
                <a:spcPts val="4513"/>
              </a:lnSpc>
              <a:buFont typeface="Arial"/>
              <a:buChar char="•"/>
            </a:pPr>
            <a:r>
              <a:rPr lang="en-US" sz="3224">
                <a:solidFill>
                  <a:srgbClr val="000000"/>
                </a:solidFill>
                <a:latin typeface="DG Jory"/>
                <a:ea typeface="DG Jory"/>
                <a:cs typeface="DG Jory"/>
                <a:sym typeface="DG Jory"/>
              </a:rPr>
              <a:t>Clustering is the process of organizing similar data points into groups, called clusters, such that points within the same cluster are more similar to each other than to those in different clusters.</a:t>
            </a:r>
          </a:p>
          <a:p>
            <a:pPr algn="l" marL="696075" indent="-348037" lvl="1">
              <a:lnSpc>
                <a:spcPts val="4513"/>
              </a:lnSpc>
              <a:buFont typeface="Arial"/>
              <a:buChar char="•"/>
            </a:pPr>
            <a:r>
              <a:rPr lang="en-US" sz="3224">
                <a:solidFill>
                  <a:srgbClr val="000000"/>
                </a:solidFill>
                <a:latin typeface="DG Jory"/>
                <a:ea typeface="DG Jory"/>
                <a:cs typeface="DG Jory"/>
                <a:sym typeface="DG Jory"/>
              </a:rPr>
              <a:t>Existing techniques like K-means, Fuzzy C-Means, and Expectation Maximization often fail to find optimal clusters in all datasets due to built-in assumptions.</a:t>
            </a:r>
          </a:p>
          <a:p>
            <a:pPr algn="l" marL="696075" indent="-348037" lvl="1">
              <a:lnSpc>
                <a:spcPts val="4513"/>
              </a:lnSpc>
              <a:buFont typeface="Arial"/>
              <a:buChar char="•"/>
            </a:pPr>
            <a:r>
              <a:rPr lang="en-US" sz="3224">
                <a:solidFill>
                  <a:srgbClr val="000000"/>
                </a:solidFill>
                <a:latin typeface="DG Jory"/>
                <a:ea typeface="DG Jory"/>
                <a:cs typeface="DG Jory"/>
                <a:sym typeface="DG Jory"/>
              </a:rPr>
              <a:t>The proposed Self-Optimal Clustering (SOC) method improves on earlier techniques by optimizing the threshold function using interpolation, leading to better cluster quality.</a:t>
            </a:r>
          </a:p>
          <a:p>
            <a:pPr algn="l" marL="696075" indent="-348037" lvl="1">
              <a:lnSpc>
                <a:spcPts val="4513"/>
              </a:lnSpc>
              <a:buFont typeface="Arial"/>
              <a:buChar char="•"/>
            </a:pPr>
            <a:r>
              <a:rPr lang="en-US" sz="3224">
                <a:solidFill>
                  <a:srgbClr val="000000"/>
                </a:solidFill>
                <a:latin typeface="DG Jory"/>
                <a:ea typeface="DG Jory"/>
                <a:cs typeface="DG Jory"/>
                <a:sym typeface="DG Jory"/>
              </a:rPr>
              <a:t>SOC is evaluated using standard validation indices (like Silhouette, Partition, Separation, and Dunn Index) and shows superior performance with more accurate and visually distinct clusters.</a:t>
            </a:r>
          </a:p>
          <a:p>
            <a:pPr algn="l">
              <a:lnSpc>
                <a:spcPts val="4513"/>
              </a:lnSpc>
            </a:pPr>
          </a:p>
          <a:p>
            <a:pPr algn="l">
              <a:lnSpc>
                <a:spcPts val="4513"/>
              </a:lnSpc>
            </a:pPr>
          </a:p>
        </p:txBody>
      </p:sp>
      <p:sp>
        <p:nvSpPr>
          <p:cNvPr name="TextBox 13" id="13"/>
          <p:cNvSpPr txBox="true"/>
          <p:nvPr/>
        </p:nvSpPr>
        <p:spPr>
          <a:xfrm rot="0">
            <a:off x="6128647" y="667235"/>
            <a:ext cx="6027748" cy="748598"/>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INTRODUCTION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3082137" y="-672847"/>
            <a:ext cx="9287959" cy="8409825"/>
          </a:xfrm>
          <a:custGeom>
            <a:avLst/>
            <a:gdLst/>
            <a:ahLst/>
            <a:cxnLst/>
            <a:rect r="r" b="b" t="t" l="l"/>
            <a:pathLst>
              <a:path h="8409825" w="9287959">
                <a:moveTo>
                  <a:pt x="9287960" y="8409825"/>
                </a:moveTo>
                <a:lnTo>
                  <a:pt x="0" y="8409825"/>
                </a:lnTo>
                <a:lnTo>
                  <a:pt x="0" y="0"/>
                </a:lnTo>
                <a:lnTo>
                  <a:pt x="9287960" y="0"/>
                </a:lnTo>
                <a:lnTo>
                  <a:pt x="9287960" y="840982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07933" y="8049787"/>
            <a:ext cx="7360133" cy="6664266"/>
          </a:xfrm>
          <a:custGeom>
            <a:avLst/>
            <a:gdLst/>
            <a:ahLst/>
            <a:cxnLst/>
            <a:rect r="r" b="b" t="t" l="l"/>
            <a:pathLst>
              <a:path h="6664266" w="7360133">
                <a:moveTo>
                  <a:pt x="0" y="0"/>
                </a:moveTo>
                <a:lnTo>
                  <a:pt x="7360134" y="0"/>
                </a:lnTo>
                <a:lnTo>
                  <a:pt x="7360134" y="6664267"/>
                </a:lnTo>
                <a:lnTo>
                  <a:pt x="0" y="6664267"/>
                </a:lnTo>
                <a:lnTo>
                  <a:pt x="0" y="0"/>
                </a:lnTo>
                <a:close/>
              </a:path>
            </a:pathLst>
          </a:custGeom>
          <a:blipFill>
            <a:blip r:embed="rId2">
              <a:alphaModFix amt="36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true" flipV="false" rot="0">
            <a:off x="8303269" y="8738243"/>
            <a:ext cx="7360133" cy="6664266"/>
          </a:xfrm>
          <a:custGeom>
            <a:avLst/>
            <a:gdLst/>
            <a:ahLst/>
            <a:cxnLst/>
            <a:rect r="r" b="b" t="t" l="l"/>
            <a:pathLst>
              <a:path h="6664266" w="7360133">
                <a:moveTo>
                  <a:pt x="7360133" y="0"/>
                </a:moveTo>
                <a:lnTo>
                  <a:pt x="0" y="0"/>
                </a:lnTo>
                <a:lnTo>
                  <a:pt x="0" y="6664266"/>
                </a:lnTo>
                <a:lnTo>
                  <a:pt x="7360133" y="6664266"/>
                </a:lnTo>
                <a:lnTo>
                  <a:pt x="7360133"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5" id="5"/>
          <p:cNvGrpSpPr/>
          <p:nvPr/>
        </p:nvGrpSpPr>
        <p:grpSpPr>
          <a:xfrm rot="0">
            <a:off x="6075846" y="236876"/>
            <a:ext cx="5994124" cy="1773322"/>
            <a:chOff x="0" y="0"/>
            <a:chExt cx="2747400" cy="812800"/>
          </a:xfrm>
        </p:grpSpPr>
        <p:sp>
          <p:nvSpPr>
            <p:cNvPr name="Freeform 6" id="6"/>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7" id="7"/>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6218030" y="379060"/>
            <a:ext cx="5994124" cy="1773322"/>
            <a:chOff x="0" y="0"/>
            <a:chExt cx="2747400" cy="812800"/>
          </a:xfrm>
        </p:grpSpPr>
        <p:sp>
          <p:nvSpPr>
            <p:cNvPr name="Freeform 9" id="9"/>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name="TextBox 10" id="10"/>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6702716" y="2474293"/>
            <a:ext cx="4882567" cy="851368"/>
            <a:chOff x="0" y="0"/>
            <a:chExt cx="1285944" cy="224229"/>
          </a:xfrm>
        </p:grpSpPr>
        <p:sp>
          <p:nvSpPr>
            <p:cNvPr name="Freeform 12" id="12"/>
            <p:cNvSpPr/>
            <p:nvPr/>
          </p:nvSpPr>
          <p:spPr>
            <a:xfrm flipH="false" flipV="false" rot="0">
              <a:off x="0" y="0"/>
              <a:ext cx="1285944" cy="224229"/>
            </a:xfrm>
            <a:custGeom>
              <a:avLst/>
              <a:gdLst/>
              <a:ahLst/>
              <a:cxnLst/>
              <a:rect r="r" b="b" t="t" l="l"/>
              <a:pathLst>
                <a:path h="224229" w="1285944">
                  <a:moveTo>
                    <a:pt x="0" y="0"/>
                  </a:moveTo>
                  <a:lnTo>
                    <a:pt x="1285944" y="0"/>
                  </a:lnTo>
                  <a:lnTo>
                    <a:pt x="1285944" y="224229"/>
                  </a:lnTo>
                  <a:lnTo>
                    <a:pt x="0" y="224229"/>
                  </a:lnTo>
                  <a:close/>
                </a:path>
              </a:pathLst>
            </a:custGeom>
            <a:solidFill>
              <a:srgbClr val="9BDAE9">
                <a:alpha val="49804"/>
              </a:srgbClr>
            </a:solidFill>
          </p:spPr>
        </p:sp>
        <p:sp>
          <p:nvSpPr>
            <p:cNvPr name="TextBox 13" id="13"/>
            <p:cNvSpPr txBox="true"/>
            <p:nvPr/>
          </p:nvSpPr>
          <p:spPr>
            <a:xfrm>
              <a:off x="0" y="-47625"/>
              <a:ext cx="1285944" cy="271854"/>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901021" y="3455866"/>
            <a:ext cx="14647192" cy="5802434"/>
          </a:xfrm>
          <a:prstGeom prst="rect">
            <a:avLst/>
          </a:prstGeom>
        </p:spPr>
        <p:txBody>
          <a:bodyPr anchor="t" rtlCol="false" tIns="0" lIns="0" bIns="0" rIns="0">
            <a:spAutoFit/>
          </a:bodyPr>
          <a:lstStyle/>
          <a:p>
            <a:pPr algn="l" marL="714135" indent="-357067" lvl="1">
              <a:lnSpc>
                <a:spcPts val="4630"/>
              </a:lnSpc>
              <a:buFont typeface="Arial"/>
              <a:buChar char="•"/>
            </a:pPr>
            <a:r>
              <a:rPr lang="en-US" sz="3307">
                <a:solidFill>
                  <a:srgbClr val="000000"/>
                </a:solidFill>
                <a:latin typeface="DG Jory"/>
                <a:ea typeface="DG Jory"/>
                <a:cs typeface="DG Jory"/>
                <a:sym typeface="DG Jory"/>
              </a:rPr>
              <a:t>Newer t</a:t>
            </a:r>
            <a:r>
              <a:rPr lang="en-US" sz="3307">
                <a:solidFill>
                  <a:srgbClr val="000000"/>
                </a:solidFill>
                <a:latin typeface="DG Jory"/>
                <a:ea typeface="DG Jory"/>
                <a:cs typeface="DG Jory"/>
                <a:sym typeface="DG Jory"/>
              </a:rPr>
              <a:t>echniques enhance clustering accuracy and efficiency:</a:t>
            </a:r>
          </a:p>
          <a:p>
            <a:pPr algn="l" marL="1428269" indent="-476090" lvl="2">
              <a:lnSpc>
                <a:spcPts val="4630"/>
              </a:lnSpc>
              <a:buFont typeface="Arial"/>
              <a:buChar char="⚬"/>
            </a:pPr>
            <a:r>
              <a:rPr lang="en-US" sz="3307">
                <a:solidFill>
                  <a:srgbClr val="000000"/>
                </a:solidFill>
                <a:latin typeface="DG Jory"/>
                <a:ea typeface="DG Jory"/>
                <a:cs typeface="DG Jory"/>
                <a:sym typeface="DG Jory"/>
              </a:rPr>
              <a:t>Loc</a:t>
            </a:r>
            <a:r>
              <a:rPr lang="en-US" sz="3307">
                <a:solidFill>
                  <a:srgbClr val="000000"/>
                </a:solidFill>
                <a:latin typeface="DG Jory"/>
                <a:ea typeface="DG Jory"/>
                <a:cs typeface="DG Jory"/>
                <a:sym typeface="DG Jory"/>
              </a:rPr>
              <a:t>al data variation, normalized cuts, feature space analysis, saddle point detection, color-texture analysis, multiresolution segmentation, etc.</a:t>
            </a:r>
          </a:p>
          <a:p>
            <a:pPr algn="l" marL="714135" indent="-357067" lvl="1">
              <a:lnSpc>
                <a:spcPts val="4630"/>
              </a:lnSpc>
              <a:buFont typeface="Arial"/>
              <a:buChar char="•"/>
            </a:pPr>
            <a:r>
              <a:rPr lang="en-US" sz="3307">
                <a:solidFill>
                  <a:srgbClr val="000000"/>
                </a:solidFill>
                <a:latin typeface="DG Jory"/>
                <a:ea typeface="DG Jory"/>
                <a:cs typeface="DG Jory"/>
                <a:sym typeface="DG Jory"/>
              </a:rPr>
              <a:t>Challenges with Traditional Segmentation:</a:t>
            </a:r>
          </a:p>
          <a:p>
            <a:pPr algn="l" marL="1428269" indent="-476090" lvl="2">
              <a:lnSpc>
                <a:spcPts val="4630"/>
              </a:lnSpc>
              <a:buFont typeface="Arial"/>
              <a:buChar char="⚬"/>
            </a:pPr>
            <a:r>
              <a:rPr lang="en-US" sz="3307">
                <a:solidFill>
                  <a:srgbClr val="000000"/>
                </a:solidFill>
                <a:latin typeface="DG Jory"/>
                <a:ea typeface="DG Jory"/>
                <a:cs typeface="DG Jory"/>
                <a:sym typeface="DG Jory"/>
              </a:rPr>
              <a:t>Ty</a:t>
            </a:r>
            <a:r>
              <a:rPr lang="en-US" sz="3307">
                <a:solidFill>
                  <a:srgbClr val="000000"/>
                </a:solidFill>
                <a:latin typeface="DG Jory"/>
                <a:ea typeface="DG Jory"/>
                <a:cs typeface="DG Jory"/>
                <a:sym typeface="DG Jory"/>
              </a:rPr>
              <a:t>pically cluster based on 2D/3D spatial proximity, effective only for uniform, homogeneous data.</a:t>
            </a:r>
          </a:p>
          <a:p>
            <a:pPr algn="l" marL="1428269" indent="-476090" lvl="2">
              <a:lnSpc>
                <a:spcPts val="4630"/>
              </a:lnSpc>
              <a:buFont typeface="Arial"/>
              <a:buChar char="⚬"/>
            </a:pPr>
            <a:r>
              <a:rPr lang="en-US" sz="3307">
                <a:solidFill>
                  <a:srgbClr val="000000"/>
                </a:solidFill>
                <a:latin typeface="DG Jory"/>
                <a:ea typeface="DG Jory"/>
                <a:cs typeface="DG Jory"/>
                <a:sym typeface="DG Jory"/>
              </a:rPr>
              <a:t>Struggl</a:t>
            </a:r>
            <a:r>
              <a:rPr lang="en-US" sz="3307">
                <a:solidFill>
                  <a:srgbClr val="000000"/>
                </a:solidFill>
                <a:latin typeface="DG Jory"/>
                <a:ea typeface="DG Jory"/>
                <a:cs typeface="DG Jory"/>
                <a:sym typeface="DG Jory"/>
              </a:rPr>
              <a:t>e with complex, irregular data structures</a:t>
            </a:r>
          </a:p>
          <a:p>
            <a:pPr algn="l" marL="714135" indent="-357067" lvl="1">
              <a:lnSpc>
                <a:spcPts val="4630"/>
              </a:lnSpc>
              <a:buFont typeface="Arial"/>
              <a:buChar char="•"/>
            </a:pPr>
            <a:r>
              <a:rPr lang="en-US" sz="3307">
                <a:solidFill>
                  <a:srgbClr val="000000"/>
                </a:solidFill>
                <a:latin typeface="DG Jory"/>
                <a:ea typeface="DG Jory"/>
                <a:cs typeface="DG Jory"/>
                <a:sym typeface="DG Jory"/>
              </a:rPr>
              <a:t>Hy</a:t>
            </a:r>
            <a:r>
              <a:rPr lang="en-US" sz="3307">
                <a:solidFill>
                  <a:srgbClr val="000000"/>
                </a:solidFill>
                <a:latin typeface="DG Jory"/>
                <a:ea typeface="DG Jory"/>
                <a:cs typeface="DG Jory"/>
                <a:sym typeface="DG Jory"/>
              </a:rPr>
              <a:t>perspace-Based Clustering:</a:t>
            </a:r>
          </a:p>
          <a:p>
            <a:pPr algn="l" marL="1428269" indent="-476090" lvl="2">
              <a:lnSpc>
                <a:spcPts val="4630"/>
              </a:lnSpc>
              <a:buFont typeface="Arial"/>
              <a:buChar char="⚬"/>
            </a:pPr>
            <a:r>
              <a:rPr lang="en-US" sz="3307">
                <a:solidFill>
                  <a:srgbClr val="000000"/>
                </a:solidFill>
                <a:latin typeface="DG Jory"/>
                <a:ea typeface="DG Jory"/>
                <a:cs typeface="DG Jory"/>
                <a:sym typeface="DG Jory"/>
              </a:rPr>
              <a:t>Operates in hyperspace using multi-feature data (e.g., height, weight, color)</a:t>
            </a:r>
          </a:p>
          <a:p>
            <a:pPr algn="l" marL="1428269" indent="-476090" lvl="2">
              <a:lnSpc>
                <a:spcPts val="4630"/>
              </a:lnSpc>
              <a:buFont typeface="Arial"/>
              <a:buChar char="⚬"/>
            </a:pPr>
            <a:r>
              <a:rPr lang="en-US" sz="3307">
                <a:solidFill>
                  <a:srgbClr val="000000"/>
                </a:solidFill>
                <a:latin typeface="DG Jory"/>
                <a:ea typeface="DG Jory"/>
                <a:cs typeface="DG Jory"/>
                <a:sym typeface="DG Jory"/>
              </a:rPr>
              <a:t>Ignores physical constraints, enabling greater flexibility for non-uniform data</a:t>
            </a:r>
          </a:p>
        </p:txBody>
      </p:sp>
      <p:sp>
        <p:nvSpPr>
          <p:cNvPr name="TextBox 15" id="15"/>
          <p:cNvSpPr txBox="true"/>
          <p:nvPr/>
        </p:nvSpPr>
        <p:spPr>
          <a:xfrm rot="0">
            <a:off x="6773808" y="2640362"/>
            <a:ext cx="4740383" cy="537764"/>
          </a:xfrm>
          <a:prstGeom prst="rect">
            <a:avLst/>
          </a:prstGeom>
        </p:spPr>
        <p:txBody>
          <a:bodyPr anchor="t" rtlCol="false" tIns="0" lIns="0" bIns="0" rIns="0">
            <a:spAutoFit/>
          </a:bodyPr>
          <a:lstStyle/>
          <a:p>
            <a:pPr algn="ctr">
              <a:lnSpc>
                <a:spcPts val="4479"/>
              </a:lnSpc>
            </a:pPr>
            <a:r>
              <a:rPr lang="en-US" sz="3199">
                <a:solidFill>
                  <a:srgbClr val="000000"/>
                </a:solidFill>
                <a:latin typeface="League Spartan"/>
                <a:ea typeface="League Spartan"/>
                <a:cs typeface="League Spartan"/>
                <a:sym typeface="League Spartan"/>
              </a:rPr>
              <a:t>GENERAL OVERVIEW</a:t>
            </a:r>
          </a:p>
        </p:txBody>
      </p:sp>
      <p:sp>
        <p:nvSpPr>
          <p:cNvPr name="TextBox 16" id="16"/>
          <p:cNvSpPr txBox="true"/>
          <p:nvPr/>
        </p:nvSpPr>
        <p:spPr>
          <a:xfrm rot="0">
            <a:off x="6184406" y="749238"/>
            <a:ext cx="6027748" cy="748598"/>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BACKGROUND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3082137" y="-495020"/>
            <a:ext cx="9287959" cy="8409825"/>
          </a:xfrm>
          <a:custGeom>
            <a:avLst/>
            <a:gdLst/>
            <a:ahLst/>
            <a:cxnLst/>
            <a:rect r="r" b="b" t="t" l="l"/>
            <a:pathLst>
              <a:path h="8409825" w="9287959">
                <a:moveTo>
                  <a:pt x="9287960" y="8409824"/>
                </a:moveTo>
                <a:lnTo>
                  <a:pt x="0" y="8409824"/>
                </a:lnTo>
                <a:lnTo>
                  <a:pt x="0" y="0"/>
                </a:lnTo>
                <a:lnTo>
                  <a:pt x="9287960" y="0"/>
                </a:lnTo>
                <a:lnTo>
                  <a:pt x="9287960" y="840982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07933" y="8049787"/>
            <a:ext cx="7360133" cy="6664266"/>
          </a:xfrm>
          <a:custGeom>
            <a:avLst/>
            <a:gdLst/>
            <a:ahLst/>
            <a:cxnLst/>
            <a:rect r="r" b="b" t="t" l="l"/>
            <a:pathLst>
              <a:path h="6664266" w="7360133">
                <a:moveTo>
                  <a:pt x="0" y="0"/>
                </a:moveTo>
                <a:lnTo>
                  <a:pt x="7360134" y="0"/>
                </a:lnTo>
                <a:lnTo>
                  <a:pt x="7360134" y="6664267"/>
                </a:lnTo>
                <a:lnTo>
                  <a:pt x="0" y="6664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true" flipV="false" rot="0">
            <a:off x="8303269" y="8738243"/>
            <a:ext cx="7360133" cy="6664266"/>
          </a:xfrm>
          <a:custGeom>
            <a:avLst/>
            <a:gdLst/>
            <a:ahLst/>
            <a:cxnLst/>
            <a:rect r="r" b="b" t="t" l="l"/>
            <a:pathLst>
              <a:path h="6664266" w="7360133">
                <a:moveTo>
                  <a:pt x="7360133" y="0"/>
                </a:moveTo>
                <a:lnTo>
                  <a:pt x="0" y="0"/>
                </a:lnTo>
                <a:lnTo>
                  <a:pt x="0" y="6664266"/>
                </a:lnTo>
                <a:lnTo>
                  <a:pt x="7360133" y="6664266"/>
                </a:lnTo>
                <a:lnTo>
                  <a:pt x="7360133"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5" id="5"/>
          <p:cNvSpPr txBox="true"/>
          <p:nvPr/>
        </p:nvSpPr>
        <p:spPr>
          <a:xfrm rot="0">
            <a:off x="2179761" y="2596995"/>
            <a:ext cx="15079539" cy="6271147"/>
          </a:xfrm>
          <a:prstGeom prst="rect">
            <a:avLst/>
          </a:prstGeom>
        </p:spPr>
        <p:txBody>
          <a:bodyPr anchor="t" rtlCol="false" tIns="0" lIns="0" bIns="0" rIns="0">
            <a:spAutoFit/>
          </a:bodyPr>
          <a:lstStyle/>
          <a:p>
            <a:pPr algn="l" marL="697238" indent="-348619" lvl="1">
              <a:lnSpc>
                <a:spcPts val="4521"/>
              </a:lnSpc>
              <a:buFont typeface="Arial"/>
              <a:buChar char="•"/>
            </a:pPr>
            <a:r>
              <a:rPr lang="en-US" sz="3229">
                <a:solidFill>
                  <a:srgbClr val="000000"/>
                </a:solidFill>
                <a:latin typeface="DG Jory"/>
                <a:ea typeface="DG Jory"/>
                <a:cs typeface="DG Jory"/>
                <a:sym typeface="DG Jory"/>
              </a:rPr>
              <a:t>Tra</a:t>
            </a:r>
            <a:r>
              <a:rPr lang="en-US" sz="3229">
                <a:solidFill>
                  <a:srgbClr val="000000"/>
                </a:solidFill>
                <a:latin typeface="DG Jory"/>
                <a:ea typeface="DG Jory"/>
                <a:cs typeface="DG Jory"/>
                <a:sym typeface="DG Jory"/>
              </a:rPr>
              <a:t>ditional clustering algorithms:</a:t>
            </a:r>
          </a:p>
          <a:p>
            <a:pPr algn="l">
              <a:lnSpc>
                <a:spcPts val="4521"/>
              </a:lnSpc>
            </a:pPr>
          </a:p>
          <a:p>
            <a:pPr algn="l">
              <a:lnSpc>
                <a:spcPts val="4521"/>
              </a:lnSpc>
            </a:pPr>
            <a:r>
              <a:rPr lang="en-US" sz="3229">
                <a:solidFill>
                  <a:srgbClr val="000000"/>
                </a:solidFill>
                <a:latin typeface="DG Jory"/>
                <a:ea typeface="DG Jory"/>
                <a:cs typeface="DG Jory"/>
                <a:sym typeface="DG Jory"/>
              </a:rPr>
              <a:t>                  </a:t>
            </a:r>
            <a:r>
              <a:rPr lang="en-US" sz="3229">
                <a:solidFill>
                  <a:srgbClr val="000000"/>
                </a:solidFill>
                <a:latin typeface="DG Jory"/>
                <a:ea typeface="DG Jory"/>
                <a:cs typeface="DG Jory"/>
                <a:sym typeface="DG Jory"/>
              </a:rPr>
              <a:t>Need manual tuning (e.g., number of clusters)</a:t>
            </a:r>
          </a:p>
          <a:p>
            <a:pPr algn="l">
              <a:lnSpc>
                <a:spcPts val="4521"/>
              </a:lnSpc>
            </a:pPr>
          </a:p>
          <a:p>
            <a:pPr algn="l">
              <a:lnSpc>
                <a:spcPts val="4521"/>
              </a:lnSpc>
            </a:pPr>
            <a:r>
              <a:rPr lang="en-US" sz="3229">
                <a:solidFill>
                  <a:srgbClr val="000000"/>
                </a:solidFill>
                <a:latin typeface="DG Jory"/>
                <a:ea typeface="DG Jory"/>
                <a:cs typeface="DG Jory"/>
                <a:sym typeface="DG Jory"/>
              </a:rPr>
              <a:t>                 </a:t>
            </a:r>
            <a:r>
              <a:rPr lang="en-US" sz="3229">
                <a:solidFill>
                  <a:srgbClr val="000000"/>
                </a:solidFill>
                <a:latin typeface="DG Jory"/>
                <a:ea typeface="DG Jory"/>
                <a:cs typeface="DG Jory"/>
                <a:sym typeface="DG Jory"/>
              </a:rPr>
              <a:t>Depend on fixed or heuristic threshold values</a:t>
            </a:r>
          </a:p>
          <a:p>
            <a:pPr algn="l">
              <a:lnSpc>
                <a:spcPts val="4521"/>
              </a:lnSpc>
            </a:pPr>
          </a:p>
          <a:p>
            <a:pPr algn="l">
              <a:lnSpc>
                <a:spcPts val="4521"/>
              </a:lnSpc>
            </a:pPr>
            <a:r>
              <a:rPr lang="en-US" sz="3229">
                <a:solidFill>
                  <a:srgbClr val="000000"/>
                </a:solidFill>
                <a:latin typeface="DG Jory"/>
                <a:ea typeface="DG Jory"/>
                <a:cs typeface="DG Jory"/>
                <a:sym typeface="DG Jory"/>
              </a:rPr>
              <a:t>                 </a:t>
            </a:r>
            <a:r>
              <a:rPr lang="en-US" sz="3229">
                <a:solidFill>
                  <a:srgbClr val="000000"/>
                </a:solidFill>
                <a:latin typeface="DG Jory"/>
                <a:ea typeface="DG Jory"/>
                <a:cs typeface="DG Jory"/>
                <a:sym typeface="DG Jory"/>
              </a:rPr>
              <a:t>Often give inconsistent or overlapping clusters</a:t>
            </a:r>
          </a:p>
          <a:p>
            <a:pPr algn="l">
              <a:lnSpc>
                <a:spcPts val="4521"/>
              </a:lnSpc>
            </a:pPr>
          </a:p>
          <a:p>
            <a:pPr algn="l" marL="697238" indent="-348619" lvl="1">
              <a:lnSpc>
                <a:spcPts val="4521"/>
              </a:lnSpc>
              <a:buFont typeface="Arial"/>
              <a:buChar char="•"/>
            </a:pPr>
            <a:r>
              <a:rPr lang="en-US" sz="3229">
                <a:solidFill>
                  <a:srgbClr val="000000"/>
                </a:solidFill>
                <a:latin typeface="DG Jory"/>
                <a:ea typeface="DG Jory"/>
                <a:cs typeface="DG Jory"/>
                <a:sym typeface="DG Jory"/>
              </a:rPr>
              <a:t>IMC-1 and IMC-2 </a:t>
            </a:r>
            <a:r>
              <a:rPr lang="en-US" sz="3229">
                <a:solidFill>
                  <a:srgbClr val="000000"/>
                </a:solidFill>
                <a:latin typeface="DG Jory"/>
                <a:ea typeface="DG Jory"/>
                <a:cs typeface="DG Jory"/>
                <a:sym typeface="DG Jory"/>
              </a:rPr>
              <a:t>are better but still use non-optimized thresholds</a:t>
            </a:r>
          </a:p>
          <a:p>
            <a:pPr algn="l" marL="697238" indent="-348619" lvl="1">
              <a:lnSpc>
                <a:spcPts val="4521"/>
              </a:lnSpc>
              <a:buFont typeface="Arial"/>
              <a:buChar char="•"/>
            </a:pPr>
            <a:r>
              <a:rPr lang="en-US" sz="3229">
                <a:solidFill>
                  <a:srgbClr val="000000"/>
                </a:solidFill>
                <a:latin typeface="DG Jory"/>
                <a:ea typeface="DG Jory"/>
                <a:cs typeface="DG Jory"/>
                <a:sym typeface="DG Jory"/>
              </a:rPr>
              <a:t>Key Problem:  Current methods can't automatically adjust themselves to always find the best clustering.</a:t>
            </a:r>
          </a:p>
        </p:txBody>
      </p:sp>
      <p:grpSp>
        <p:nvGrpSpPr>
          <p:cNvPr name="Group 6" id="6"/>
          <p:cNvGrpSpPr/>
          <p:nvPr/>
        </p:nvGrpSpPr>
        <p:grpSpPr>
          <a:xfrm rot="0">
            <a:off x="5475362" y="264404"/>
            <a:ext cx="7460579" cy="1773322"/>
            <a:chOff x="0" y="0"/>
            <a:chExt cx="3419547" cy="812800"/>
          </a:xfrm>
        </p:grpSpPr>
        <p:sp>
          <p:nvSpPr>
            <p:cNvPr name="Freeform 7" id="7"/>
            <p:cNvSpPr/>
            <p:nvPr/>
          </p:nvSpPr>
          <p:spPr>
            <a:xfrm flipH="false" flipV="false" rot="0">
              <a:off x="0" y="0"/>
              <a:ext cx="3419547" cy="812800"/>
            </a:xfrm>
            <a:custGeom>
              <a:avLst/>
              <a:gdLst/>
              <a:ahLst/>
              <a:cxnLst/>
              <a:rect r="r" b="b" t="t" l="l"/>
              <a:pathLst>
                <a:path h="812800" w="3419547">
                  <a:moveTo>
                    <a:pt x="3419547" y="0"/>
                  </a:moveTo>
                  <a:lnTo>
                    <a:pt x="0" y="0"/>
                  </a:lnTo>
                  <a:lnTo>
                    <a:pt x="0" y="624840"/>
                  </a:lnTo>
                  <a:lnTo>
                    <a:pt x="157480" y="624840"/>
                  </a:lnTo>
                  <a:lnTo>
                    <a:pt x="157480" y="812800"/>
                  </a:lnTo>
                  <a:lnTo>
                    <a:pt x="463550" y="624840"/>
                  </a:lnTo>
                  <a:lnTo>
                    <a:pt x="3419547" y="624840"/>
                  </a:lnTo>
                  <a:lnTo>
                    <a:pt x="3419547" y="0"/>
                  </a:lnTo>
                  <a:close/>
                </a:path>
              </a:pathLst>
            </a:custGeom>
            <a:solidFill>
              <a:srgbClr val="9BDAE9"/>
            </a:solidFill>
            <a:ln cap="sq">
              <a:noFill/>
              <a:prstDash val="solid"/>
              <a:miter/>
            </a:ln>
          </p:spPr>
        </p:sp>
        <p:sp>
          <p:nvSpPr>
            <p:cNvPr name="TextBox 8" id="8"/>
            <p:cNvSpPr txBox="true"/>
            <p:nvPr/>
          </p:nvSpPr>
          <p:spPr>
            <a:xfrm>
              <a:off x="0" y="-47625"/>
              <a:ext cx="3419547" cy="6699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5617546" y="406588"/>
            <a:ext cx="7464592" cy="1773322"/>
            <a:chOff x="0" y="0"/>
            <a:chExt cx="3421387" cy="812800"/>
          </a:xfrm>
        </p:grpSpPr>
        <p:sp>
          <p:nvSpPr>
            <p:cNvPr name="Freeform 10" id="10"/>
            <p:cNvSpPr/>
            <p:nvPr/>
          </p:nvSpPr>
          <p:spPr>
            <a:xfrm flipH="false" flipV="false" rot="0">
              <a:off x="0" y="0"/>
              <a:ext cx="3421387" cy="812800"/>
            </a:xfrm>
            <a:custGeom>
              <a:avLst/>
              <a:gdLst/>
              <a:ahLst/>
              <a:cxnLst/>
              <a:rect r="r" b="b" t="t" l="l"/>
              <a:pathLst>
                <a:path h="812800" w="3421387">
                  <a:moveTo>
                    <a:pt x="3421387" y="0"/>
                  </a:moveTo>
                  <a:lnTo>
                    <a:pt x="0" y="0"/>
                  </a:lnTo>
                  <a:lnTo>
                    <a:pt x="0" y="624840"/>
                  </a:lnTo>
                  <a:lnTo>
                    <a:pt x="157480" y="624840"/>
                  </a:lnTo>
                  <a:lnTo>
                    <a:pt x="157480" y="812800"/>
                  </a:lnTo>
                  <a:lnTo>
                    <a:pt x="463550" y="624840"/>
                  </a:lnTo>
                  <a:lnTo>
                    <a:pt x="3421387" y="624840"/>
                  </a:lnTo>
                  <a:lnTo>
                    <a:pt x="3421387" y="0"/>
                  </a:lnTo>
                  <a:close/>
                </a:path>
              </a:pathLst>
            </a:custGeom>
            <a:solidFill>
              <a:srgbClr val="000000">
                <a:alpha val="0"/>
              </a:srgbClr>
            </a:solidFill>
            <a:ln w="66675" cap="sq">
              <a:solidFill>
                <a:srgbClr val="56C3D0"/>
              </a:solidFill>
              <a:prstDash val="solid"/>
              <a:miter/>
            </a:ln>
          </p:spPr>
        </p:sp>
        <p:sp>
          <p:nvSpPr>
            <p:cNvPr name="TextBox 11" id="11"/>
            <p:cNvSpPr txBox="true"/>
            <p:nvPr/>
          </p:nvSpPr>
          <p:spPr>
            <a:xfrm>
              <a:off x="0" y="-47625"/>
              <a:ext cx="3421387" cy="669925"/>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2914045" y="3879061"/>
            <a:ext cx="212843" cy="220045"/>
          </a:xfrm>
          <a:custGeom>
            <a:avLst/>
            <a:gdLst/>
            <a:ahLst/>
            <a:cxnLst/>
            <a:rect r="r" b="b" t="t" l="l"/>
            <a:pathLst>
              <a:path h="220045" w="212843">
                <a:moveTo>
                  <a:pt x="0" y="0"/>
                </a:moveTo>
                <a:lnTo>
                  <a:pt x="212843" y="0"/>
                </a:lnTo>
                <a:lnTo>
                  <a:pt x="212843" y="220045"/>
                </a:lnTo>
                <a:lnTo>
                  <a:pt x="0" y="2200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2926880" y="5046747"/>
            <a:ext cx="187173" cy="193505"/>
          </a:xfrm>
          <a:custGeom>
            <a:avLst/>
            <a:gdLst/>
            <a:ahLst/>
            <a:cxnLst/>
            <a:rect r="r" b="b" t="t" l="l"/>
            <a:pathLst>
              <a:path h="193505" w="187173">
                <a:moveTo>
                  <a:pt x="0" y="0"/>
                </a:moveTo>
                <a:lnTo>
                  <a:pt x="187173" y="0"/>
                </a:lnTo>
                <a:lnTo>
                  <a:pt x="187173" y="193506"/>
                </a:lnTo>
                <a:lnTo>
                  <a:pt x="0" y="1935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2914045" y="6047011"/>
            <a:ext cx="176601" cy="182576"/>
          </a:xfrm>
          <a:custGeom>
            <a:avLst/>
            <a:gdLst/>
            <a:ahLst/>
            <a:cxnLst/>
            <a:rect r="r" b="b" t="t" l="l"/>
            <a:pathLst>
              <a:path h="182576" w="176601">
                <a:moveTo>
                  <a:pt x="0" y="0"/>
                </a:moveTo>
                <a:lnTo>
                  <a:pt x="176601" y="0"/>
                </a:lnTo>
                <a:lnTo>
                  <a:pt x="176601" y="182576"/>
                </a:lnTo>
                <a:lnTo>
                  <a:pt x="0" y="1825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5285373" y="776758"/>
            <a:ext cx="8128936" cy="748614"/>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PROBLEM STATEMENT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3082137" y="-495020"/>
            <a:ext cx="9287959" cy="8409825"/>
          </a:xfrm>
          <a:custGeom>
            <a:avLst/>
            <a:gdLst/>
            <a:ahLst/>
            <a:cxnLst/>
            <a:rect r="r" b="b" t="t" l="l"/>
            <a:pathLst>
              <a:path h="8409825" w="9287959">
                <a:moveTo>
                  <a:pt x="9287960" y="8409824"/>
                </a:moveTo>
                <a:lnTo>
                  <a:pt x="0" y="8409824"/>
                </a:lnTo>
                <a:lnTo>
                  <a:pt x="0" y="0"/>
                </a:lnTo>
                <a:lnTo>
                  <a:pt x="9287960" y="0"/>
                </a:lnTo>
                <a:lnTo>
                  <a:pt x="9287960" y="840982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07933" y="8049787"/>
            <a:ext cx="7360133" cy="6664266"/>
          </a:xfrm>
          <a:custGeom>
            <a:avLst/>
            <a:gdLst/>
            <a:ahLst/>
            <a:cxnLst/>
            <a:rect r="r" b="b" t="t" l="l"/>
            <a:pathLst>
              <a:path h="6664266" w="7360133">
                <a:moveTo>
                  <a:pt x="0" y="0"/>
                </a:moveTo>
                <a:lnTo>
                  <a:pt x="7360134" y="0"/>
                </a:lnTo>
                <a:lnTo>
                  <a:pt x="7360134" y="6664267"/>
                </a:lnTo>
                <a:lnTo>
                  <a:pt x="0" y="6664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true" flipV="false" rot="0">
            <a:off x="8303269" y="8738243"/>
            <a:ext cx="7360133" cy="6664266"/>
          </a:xfrm>
          <a:custGeom>
            <a:avLst/>
            <a:gdLst/>
            <a:ahLst/>
            <a:cxnLst/>
            <a:rect r="r" b="b" t="t" l="l"/>
            <a:pathLst>
              <a:path h="6664266" w="7360133">
                <a:moveTo>
                  <a:pt x="7360133" y="0"/>
                </a:moveTo>
                <a:lnTo>
                  <a:pt x="0" y="0"/>
                </a:lnTo>
                <a:lnTo>
                  <a:pt x="0" y="6664266"/>
                </a:lnTo>
                <a:lnTo>
                  <a:pt x="7360133" y="6664266"/>
                </a:lnTo>
                <a:lnTo>
                  <a:pt x="7360133"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5" id="5"/>
          <p:cNvGrpSpPr/>
          <p:nvPr/>
        </p:nvGrpSpPr>
        <p:grpSpPr>
          <a:xfrm rot="0">
            <a:off x="5475362" y="264404"/>
            <a:ext cx="7460579" cy="1773322"/>
            <a:chOff x="0" y="0"/>
            <a:chExt cx="3419547" cy="812800"/>
          </a:xfrm>
        </p:grpSpPr>
        <p:sp>
          <p:nvSpPr>
            <p:cNvPr name="Freeform 6" id="6"/>
            <p:cNvSpPr/>
            <p:nvPr/>
          </p:nvSpPr>
          <p:spPr>
            <a:xfrm flipH="false" flipV="false" rot="0">
              <a:off x="0" y="0"/>
              <a:ext cx="3419547" cy="812800"/>
            </a:xfrm>
            <a:custGeom>
              <a:avLst/>
              <a:gdLst/>
              <a:ahLst/>
              <a:cxnLst/>
              <a:rect r="r" b="b" t="t" l="l"/>
              <a:pathLst>
                <a:path h="812800" w="3419547">
                  <a:moveTo>
                    <a:pt x="3419547" y="0"/>
                  </a:moveTo>
                  <a:lnTo>
                    <a:pt x="0" y="0"/>
                  </a:lnTo>
                  <a:lnTo>
                    <a:pt x="0" y="624840"/>
                  </a:lnTo>
                  <a:lnTo>
                    <a:pt x="157480" y="624840"/>
                  </a:lnTo>
                  <a:lnTo>
                    <a:pt x="157480" y="812800"/>
                  </a:lnTo>
                  <a:lnTo>
                    <a:pt x="463550" y="624840"/>
                  </a:lnTo>
                  <a:lnTo>
                    <a:pt x="3419547" y="624840"/>
                  </a:lnTo>
                  <a:lnTo>
                    <a:pt x="3419547" y="0"/>
                  </a:lnTo>
                  <a:close/>
                </a:path>
              </a:pathLst>
            </a:custGeom>
            <a:solidFill>
              <a:srgbClr val="9BDAE9"/>
            </a:solidFill>
            <a:ln cap="sq">
              <a:noFill/>
              <a:prstDash val="solid"/>
              <a:miter/>
            </a:ln>
          </p:spPr>
        </p:sp>
        <p:sp>
          <p:nvSpPr>
            <p:cNvPr name="TextBox 7" id="7"/>
            <p:cNvSpPr txBox="true"/>
            <p:nvPr/>
          </p:nvSpPr>
          <p:spPr>
            <a:xfrm>
              <a:off x="0" y="-47625"/>
              <a:ext cx="3419547" cy="66992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4824141" y="514984"/>
            <a:ext cx="8763021" cy="913132"/>
          </a:xfrm>
          <a:prstGeom prst="rect">
            <a:avLst/>
          </a:prstGeom>
        </p:spPr>
        <p:txBody>
          <a:bodyPr anchor="t" rtlCol="false" tIns="0" lIns="0" bIns="0" rIns="0">
            <a:spAutoFit/>
          </a:bodyPr>
          <a:lstStyle/>
          <a:p>
            <a:pPr algn="ctr">
              <a:lnSpc>
                <a:spcPts val="7419"/>
              </a:lnSpc>
              <a:spcBef>
                <a:spcPct val="0"/>
              </a:spcBef>
            </a:pPr>
            <a:r>
              <a:rPr lang="en-US" sz="5299">
                <a:solidFill>
                  <a:srgbClr val="000000"/>
                </a:solidFill>
                <a:latin typeface="DG Jory"/>
                <a:ea typeface="DG Jory"/>
                <a:cs typeface="DG Jory"/>
                <a:sym typeface="DG Jory"/>
              </a:rPr>
              <a:t> Proposed Solution – SOC</a:t>
            </a:r>
          </a:p>
        </p:txBody>
      </p:sp>
      <p:sp>
        <p:nvSpPr>
          <p:cNvPr name="TextBox 9" id="9"/>
          <p:cNvSpPr txBox="true"/>
          <p:nvPr/>
        </p:nvSpPr>
        <p:spPr>
          <a:xfrm rot="0">
            <a:off x="1064340" y="2297958"/>
            <a:ext cx="17745792" cy="7435859"/>
          </a:xfrm>
          <a:prstGeom prst="rect">
            <a:avLst/>
          </a:prstGeom>
        </p:spPr>
        <p:txBody>
          <a:bodyPr anchor="t" rtlCol="false" tIns="0" lIns="0" bIns="0" rIns="0">
            <a:spAutoFit/>
          </a:bodyPr>
          <a:lstStyle/>
          <a:p>
            <a:pPr algn="ctr">
              <a:lnSpc>
                <a:spcPts val="7245"/>
              </a:lnSpc>
            </a:pPr>
            <a:r>
              <a:rPr lang="en-US" sz="5175" b="true">
                <a:solidFill>
                  <a:srgbClr val="000000"/>
                </a:solidFill>
                <a:latin typeface="DG Jory Bold"/>
                <a:ea typeface="DG Jory Bold"/>
                <a:cs typeface="DG Jory Bold"/>
                <a:sym typeface="DG Jory Bold"/>
              </a:rPr>
              <a:t>SOC = Self-Optimal Clustering</a:t>
            </a:r>
          </a:p>
          <a:p>
            <a:pPr algn="ctr" marL="938657" indent="-469328" lvl="1">
              <a:lnSpc>
                <a:spcPts val="6086"/>
              </a:lnSpc>
              <a:buFont typeface="Arial"/>
              <a:buChar char="•"/>
            </a:pPr>
            <a:r>
              <a:rPr lang="en-US" sz="4347">
                <a:solidFill>
                  <a:srgbClr val="000000"/>
                </a:solidFill>
                <a:latin typeface="DG Jory"/>
                <a:ea typeface="DG Jory"/>
                <a:cs typeface="DG Jory"/>
                <a:sym typeface="DG Jory"/>
              </a:rPr>
              <a:t>Improves on IMC by optimizing the threshold function                                                                     </a:t>
            </a:r>
          </a:p>
          <a:p>
            <a:pPr algn="ctr" marL="938657" indent="-469328" lvl="1">
              <a:lnSpc>
                <a:spcPts val="6086"/>
              </a:lnSpc>
              <a:spcBef>
                <a:spcPct val="0"/>
              </a:spcBef>
              <a:buFont typeface="Arial"/>
              <a:buChar char="•"/>
            </a:pPr>
            <a:r>
              <a:rPr lang="en-US" sz="4347">
                <a:solidFill>
                  <a:srgbClr val="000000"/>
                </a:solidFill>
                <a:latin typeface="DG Jory"/>
                <a:ea typeface="DG Jory"/>
                <a:cs typeface="DG Jory"/>
                <a:sym typeface="DG Jory"/>
              </a:rPr>
              <a:t>Uses Lagrange interpolation to compute best-fit  threshold                                                   </a:t>
            </a:r>
          </a:p>
          <a:p>
            <a:pPr algn="ctr" marL="938655" indent="-469327" lvl="1">
              <a:lnSpc>
                <a:spcPts val="6086"/>
              </a:lnSpc>
              <a:spcBef>
                <a:spcPct val="0"/>
              </a:spcBef>
              <a:buFont typeface="Arial"/>
              <a:buChar char="•"/>
            </a:pPr>
            <a:r>
              <a:rPr lang="en-US" sz="4347">
                <a:solidFill>
                  <a:srgbClr val="000000"/>
                </a:solidFill>
                <a:latin typeface="DG Jory"/>
                <a:ea typeface="DG Jory"/>
                <a:cs typeface="DG Jory"/>
                <a:sym typeface="DG Jory"/>
              </a:rPr>
              <a:t>Iteratively updates clusters until quality is maximized                                                                                                                 </a:t>
            </a:r>
          </a:p>
          <a:p>
            <a:pPr algn="ctr" marL="938655" indent="-469327" lvl="1">
              <a:lnSpc>
                <a:spcPts val="6086"/>
              </a:lnSpc>
              <a:buFont typeface="Arial"/>
              <a:buChar char="•"/>
            </a:pPr>
            <a:r>
              <a:rPr lang="en-US" sz="4347">
                <a:solidFill>
                  <a:srgbClr val="000000"/>
                </a:solidFill>
                <a:latin typeface="DG Jory"/>
                <a:ea typeface="DG Jory"/>
                <a:cs typeface="DG Jory"/>
                <a:sym typeface="DG Jory"/>
              </a:rPr>
              <a:t>Evaluates clusters using indices like:                                                                                                           </a:t>
            </a:r>
          </a:p>
          <a:p>
            <a:pPr algn="ctr">
              <a:lnSpc>
                <a:spcPts val="5921"/>
              </a:lnSpc>
              <a:spcBef>
                <a:spcPct val="0"/>
              </a:spcBef>
            </a:pPr>
            <a:r>
              <a:rPr lang="en-US" sz="4229">
                <a:solidFill>
                  <a:srgbClr val="000000"/>
                </a:solidFill>
                <a:latin typeface="DG Jory"/>
                <a:ea typeface="DG Jory"/>
                <a:cs typeface="DG Jory"/>
                <a:sym typeface="DG Jory"/>
              </a:rPr>
              <a:t>                   </a:t>
            </a:r>
            <a:r>
              <a:rPr lang="en-US" sz="4229">
                <a:solidFill>
                  <a:srgbClr val="000000"/>
                </a:solidFill>
                <a:latin typeface="DG Jory"/>
                <a:ea typeface="DG Jory"/>
                <a:cs typeface="DG Jory"/>
                <a:sym typeface="DG Jory"/>
              </a:rPr>
              <a:t>Global Silhouette Index (GSI)                                                                                                                                             </a:t>
            </a:r>
          </a:p>
          <a:p>
            <a:pPr algn="ctr">
              <a:lnSpc>
                <a:spcPts val="5921"/>
              </a:lnSpc>
              <a:spcBef>
                <a:spcPct val="0"/>
              </a:spcBef>
            </a:pPr>
            <a:r>
              <a:rPr lang="en-US" sz="4229">
                <a:solidFill>
                  <a:srgbClr val="000000"/>
                </a:solidFill>
                <a:latin typeface="DG Jory"/>
                <a:ea typeface="DG Jory"/>
                <a:cs typeface="DG Jory"/>
                <a:sym typeface="DG Jory"/>
              </a:rPr>
              <a:t>                   Partition Index (PI)                                                                                                                                                                      </a:t>
            </a:r>
          </a:p>
          <a:p>
            <a:pPr algn="ctr">
              <a:lnSpc>
                <a:spcPts val="5921"/>
              </a:lnSpc>
              <a:spcBef>
                <a:spcPct val="0"/>
              </a:spcBef>
            </a:pPr>
            <a:r>
              <a:rPr lang="en-US" sz="4229">
                <a:solidFill>
                  <a:srgbClr val="000000"/>
                </a:solidFill>
                <a:latin typeface="DG Jory"/>
                <a:ea typeface="DG Jory"/>
                <a:cs typeface="DG Jory"/>
                <a:sym typeface="DG Jory"/>
              </a:rPr>
              <a:t>                  Separation Index (SI)                                                                                                                                                                    </a:t>
            </a:r>
          </a:p>
          <a:p>
            <a:pPr algn="ctr">
              <a:lnSpc>
                <a:spcPts val="5921"/>
              </a:lnSpc>
              <a:spcBef>
                <a:spcPct val="0"/>
              </a:spcBef>
            </a:pPr>
            <a:r>
              <a:rPr lang="en-US" sz="4229">
                <a:solidFill>
                  <a:srgbClr val="000000"/>
                </a:solidFill>
                <a:latin typeface="DG Jory"/>
                <a:ea typeface="DG Jory"/>
                <a:cs typeface="DG Jory"/>
                <a:sym typeface="DG Jory"/>
              </a:rPr>
              <a:t>                   Dunn Index (DI)                                                                                                                                                                                  </a:t>
            </a:r>
          </a:p>
          <a:p>
            <a:pPr algn="ctr">
              <a:lnSpc>
                <a:spcPts val="3603"/>
              </a:lnSpc>
              <a:spcBef>
                <a:spcPct val="0"/>
              </a:spcBef>
            </a:pPr>
          </a:p>
        </p:txBody>
      </p:sp>
      <p:sp>
        <p:nvSpPr>
          <p:cNvPr name="Freeform 10" id="10"/>
          <p:cNvSpPr/>
          <p:nvPr/>
        </p:nvSpPr>
        <p:spPr>
          <a:xfrm flipH="false" flipV="false" rot="0">
            <a:off x="1776779" y="6325991"/>
            <a:ext cx="591519" cy="501178"/>
          </a:xfrm>
          <a:custGeom>
            <a:avLst/>
            <a:gdLst/>
            <a:ahLst/>
            <a:cxnLst/>
            <a:rect r="r" b="b" t="t" l="l"/>
            <a:pathLst>
              <a:path h="501178" w="591519">
                <a:moveTo>
                  <a:pt x="0" y="0"/>
                </a:moveTo>
                <a:lnTo>
                  <a:pt x="591519" y="0"/>
                </a:lnTo>
                <a:lnTo>
                  <a:pt x="591519" y="501177"/>
                </a:lnTo>
                <a:lnTo>
                  <a:pt x="0" y="5011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76779" y="7052435"/>
            <a:ext cx="591519" cy="501178"/>
          </a:xfrm>
          <a:custGeom>
            <a:avLst/>
            <a:gdLst/>
            <a:ahLst/>
            <a:cxnLst/>
            <a:rect r="r" b="b" t="t" l="l"/>
            <a:pathLst>
              <a:path h="501178" w="591519">
                <a:moveTo>
                  <a:pt x="0" y="0"/>
                </a:moveTo>
                <a:lnTo>
                  <a:pt x="591519" y="0"/>
                </a:lnTo>
                <a:lnTo>
                  <a:pt x="591519" y="501178"/>
                </a:lnTo>
                <a:lnTo>
                  <a:pt x="0" y="5011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757729" y="7778879"/>
            <a:ext cx="591519" cy="501178"/>
          </a:xfrm>
          <a:custGeom>
            <a:avLst/>
            <a:gdLst/>
            <a:ahLst/>
            <a:cxnLst/>
            <a:rect r="r" b="b" t="t" l="l"/>
            <a:pathLst>
              <a:path h="501178" w="591519">
                <a:moveTo>
                  <a:pt x="0" y="0"/>
                </a:moveTo>
                <a:lnTo>
                  <a:pt x="591519" y="0"/>
                </a:lnTo>
                <a:lnTo>
                  <a:pt x="591519" y="501178"/>
                </a:lnTo>
                <a:lnTo>
                  <a:pt x="0" y="5011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783328" y="8510878"/>
            <a:ext cx="591519" cy="501178"/>
          </a:xfrm>
          <a:custGeom>
            <a:avLst/>
            <a:gdLst/>
            <a:ahLst/>
            <a:cxnLst/>
            <a:rect r="r" b="b" t="t" l="l"/>
            <a:pathLst>
              <a:path h="501178" w="591519">
                <a:moveTo>
                  <a:pt x="0" y="0"/>
                </a:moveTo>
                <a:lnTo>
                  <a:pt x="591519" y="0"/>
                </a:lnTo>
                <a:lnTo>
                  <a:pt x="591519" y="501178"/>
                </a:lnTo>
                <a:lnTo>
                  <a:pt x="0" y="5011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607933" y="8049787"/>
            <a:ext cx="7360133" cy="6664266"/>
          </a:xfrm>
          <a:custGeom>
            <a:avLst/>
            <a:gdLst/>
            <a:ahLst/>
            <a:cxnLst/>
            <a:rect r="r" b="b" t="t" l="l"/>
            <a:pathLst>
              <a:path h="6664266" w="7360133">
                <a:moveTo>
                  <a:pt x="0" y="0"/>
                </a:moveTo>
                <a:lnTo>
                  <a:pt x="7360134" y="0"/>
                </a:lnTo>
                <a:lnTo>
                  <a:pt x="7360134" y="6664267"/>
                </a:lnTo>
                <a:lnTo>
                  <a:pt x="0" y="6664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false" rot="0">
            <a:off x="8303269" y="8738243"/>
            <a:ext cx="7360133" cy="6664266"/>
          </a:xfrm>
          <a:custGeom>
            <a:avLst/>
            <a:gdLst/>
            <a:ahLst/>
            <a:cxnLst/>
            <a:rect r="r" b="b" t="t" l="l"/>
            <a:pathLst>
              <a:path h="6664266" w="7360133">
                <a:moveTo>
                  <a:pt x="7360133" y="0"/>
                </a:moveTo>
                <a:lnTo>
                  <a:pt x="0" y="0"/>
                </a:lnTo>
                <a:lnTo>
                  <a:pt x="0" y="6664266"/>
                </a:lnTo>
                <a:lnTo>
                  <a:pt x="7360133" y="6664266"/>
                </a:lnTo>
                <a:lnTo>
                  <a:pt x="7360133"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1441040" y="2440209"/>
            <a:ext cx="574854" cy="487058"/>
          </a:xfrm>
          <a:custGeom>
            <a:avLst/>
            <a:gdLst/>
            <a:ahLst/>
            <a:cxnLst/>
            <a:rect r="r" b="b" t="t" l="l"/>
            <a:pathLst>
              <a:path h="487058" w="574854">
                <a:moveTo>
                  <a:pt x="0" y="0"/>
                </a:moveTo>
                <a:lnTo>
                  <a:pt x="574854" y="0"/>
                </a:lnTo>
                <a:lnTo>
                  <a:pt x="574854" y="487058"/>
                </a:lnTo>
                <a:lnTo>
                  <a:pt x="0" y="4870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6455841" y="3220868"/>
            <a:ext cx="3573174" cy="1354264"/>
          </a:xfrm>
          <a:custGeom>
            <a:avLst/>
            <a:gdLst/>
            <a:ahLst/>
            <a:cxnLst/>
            <a:rect r="r" b="b" t="t" l="l"/>
            <a:pathLst>
              <a:path h="1354264" w="3573174">
                <a:moveTo>
                  <a:pt x="0" y="0"/>
                </a:moveTo>
                <a:lnTo>
                  <a:pt x="3573175" y="0"/>
                </a:lnTo>
                <a:lnTo>
                  <a:pt x="3573175" y="1354264"/>
                </a:lnTo>
                <a:lnTo>
                  <a:pt x="0" y="1354264"/>
                </a:lnTo>
                <a:lnTo>
                  <a:pt x="0" y="0"/>
                </a:lnTo>
                <a:close/>
              </a:path>
            </a:pathLst>
          </a:custGeom>
          <a:blipFill>
            <a:blip r:embed="rId6"/>
            <a:stretch>
              <a:fillRect l="0" t="0" r="0" b="0"/>
            </a:stretch>
          </a:blipFill>
        </p:spPr>
      </p:sp>
      <p:sp>
        <p:nvSpPr>
          <p:cNvPr name="Freeform 6" id="6"/>
          <p:cNvSpPr/>
          <p:nvPr/>
        </p:nvSpPr>
        <p:spPr>
          <a:xfrm flipH="false" flipV="false" rot="0">
            <a:off x="2015894" y="3378159"/>
            <a:ext cx="3837497" cy="1026531"/>
          </a:xfrm>
          <a:custGeom>
            <a:avLst/>
            <a:gdLst/>
            <a:ahLst/>
            <a:cxnLst/>
            <a:rect r="r" b="b" t="t" l="l"/>
            <a:pathLst>
              <a:path h="1026531" w="3837497">
                <a:moveTo>
                  <a:pt x="0" y="0"/>
                </a:moveTo>
                <a:lnTo>
                  <a:pt x="3837498" y="0"/>
                </a:lnTo>
                <a:lnTo>
                  <a:pt x="3837498" y="1026531"/>
                </a:lnTo>
                <a:lnTo>
                  <a:pt x="0" y="1026531"/>
                </a:lnTo>
                <a:lnTo>
                  <a:pt x="0" y="0"/>
                </a:lnTo>
                <a:close/>
              </a:path>
            </a:pathLst>
          </a:custGeom>
          <a:blipFill>
            <a:blip r:embed="rId7"/>
            <a:stretch>
              <a:fillRect l="0" t="0" r="0" b="0"/>
            </a:stretch>
          </a:blipFill>
        </p:spPr>
      </p:sp>
      <p:sp>
        <p:nvSpPr>
          <p:cNvPr name="Freeform 7" id="7"/>
          <p:cNvSpPr/>
          <p:nvPr/>
        </p:nvSpPr>
        <p:spPr>
          <a:xfrm flipH="false" flipV="false" rot="0">
            <a:off x="10480712" y="3220868"/>
            <a:ext cx="3573174" cy="1341113"/>
          </a:xfrm>
          <a:custGeom>
            <a:avLst/>
            <a:gdLst/>
            <a:ahLst/>
            <a:cxnLst/>
            <a:rect r="r" b="b" t="t" l="l"/>
            <a:pathLst>
              <a:path h="1341113" w="3573174">
                <a:moveTo>
                  <a:pt x="0" y="0"/>
                </a:moveTo>
                <a:lnTo>
                  <a:pt x="3573175" y="0"/>
                </a:lnTo>
                <a:lnTo>
                  <a:pt x="3573175" y="1341113"/>
                </a:lnTo>
                <a:lnTo>
                  <a:pt x="0" y="1341113"/>
                </a:lnTo>
                <a:lnTo>
                  <a:pt x="0" y="0"/>
                </a:lnTo>
                <a:close/>
              </a:path>
            </a:pathLst>
          </a:custGeom>
          <a:blipFill>
            <a:blip r:embed="rId8"/>
            <a:stretch>
              <a:fillRect l="0" t="0" r="0" b="0"/>
            </a:stretch>
          </a:blipFill>
        </p:spPr>
      </p:sp>
      <p:sp>
        <p:nvSpPr>
          <p:cNvPr name="Freeform 8" id="8"/>
          <p:cNvSpPr/>
          <p:nvPr/>
        </p:nvSpPr>
        <p:spPr>
          <a:xfrm flipH="true" flipV="true" rot="0">
            <a:off x="13271767" y="-360037"/>
            <a:ext cx="9287959" cy="8409825"/>
          </a:xfrm>
          <a:custGeom>
            <a:avLst/>
            <a:gdLst/>
            <a:ahLst/>
            <a:cxnLst/>
            <a:rect r="r" b="b" t="t" l="l"/>
            <a:pathLst>
              <a:path h="8409825" w="9287959">
                <a:moveTo>
                  <a:pt x="9287959" y="8409824"/>
                </a:moveTo>
                <a:lnTo>
                  <a:pt x="0" y="8409824"/>
                </a:lnTo>
                <a:lnTo>
                  <a:pt x="0" y="0"/>
                </a:lnTo>
                <a:lnTo>
                  <a:pt x="9287959" y="0"/>
                </a:lnTo>
                <a:lnTo>
                  <a:pt x="9287959" y="8409824"/>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234549" y="359142"/>
            <a:ext cx="9178237" cy="1773322"/>
            <a:chOff x="0" y="0"/>
            <a:chExt cx="4206834" cy="812800"/>
          </a:xfrm>
        </p:grpSpPr>
        <p:sp>
          <p:nvSpPr>
            <p:cNvPr name="Freeform 10" id="10"/>
            <p:cNvSpPr/>
            <p:nvPr/>
          </p:nvSpPr>
          <p:spPr>
            <a:xfrm flipH="false" flipV="false" rot="0">
              <a:off x="0" y="0"/>
              <a:ext cx="4206834" cy="812800"/>
            </a:xfrm>
            <a:custGeom>
              <a:avLst/>
              <a:gdLst/>
              <a:ahLst/>
              <a:cxnLst/>
              <a:rect r="r" b="b" t="t" l="l"/>
              <a:pathLst>
                <a:path h="812800" w="4206834">
                  <a:moveTo>
                    <a:pt x="4206834" y="0"/>
                  </a:moveTo>
                  <a:lnTo>
                    <a:pt x="0" y="0"/>
                  </a:lnTo>
                  <a:lnTo>
                    <a:pt x="0" y="624840"/>
                  </a:lnTo>
                  <a:lnTo>
                    <a:pt x="157480" y="624840"/>
                  </a:lnTo>
                  <a:lnTo>
                    <a:pt x="157480" y="812800"/>
                  </a:lnTo>
                  <a:lnTo>
                    <a:pt x="463550" y="624840"/>
                  </a:lnTo>
                  <a:lnTo>
                    <a:pt x="4206834" y="624840"/>
                  </a:lnTo>
                  <a:lnTo>
                    <a:pt x="4206834" y="0"/>
                  </a:lnTo>
                  <a:close/>
                </a:path>
              </a:pathLst>
            </a:custGeom>
            <a:solidFill>
              <a:srgbClr val="9BDAE9"/>
            </a:solidFill>
            <a:ln cap="sq">
              <a:noFill/>
              <a:prstDash val="solid"/>
              <a:miter/>
            </a:ln>
          </p:spPr>
        </p:sp>
        <p:sp>
          <p:nvSpPr>
            <p:cNvPr name="TextBox 11" id="11"/>
            <p:cNvSpPr txBox="true"/>
            <p:nvPr/>
          </p:nvSpPr>
          <p:spPr>
            <a:xfrm>
              <a:off x="0" y="-47625"/>
              <a:ext cx="4206834" cy="66992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4234549" y="359142"/>
            <a:ext cx="9178237" cy="1773322"/>
            <a:chOff x="0" y="0"/>
            <a:chExt cx="4206834" cy="812800"/>
          </a:xfrm>
        </p:grpSpPr>
        <p:sp>
          <p:nvSpPr>
            <p:cNvPr name="Freeform 13" id="13"/>
            <p:cNvSpPr/>
            <p:nvPr/>
          </p:nvSpPr>
          <p:spPr>
            <a:xfrm flipH="false" flipV="false" rot="0">
              <a:off x="0" y="0"/>
              <a:ext cx="4206834" cy="812800"/>
            </a:xfrm>
            <a:custGeom>
              <a:avLst/>
              <a:gdLst/>
              <a:ahLst/>
              <a:cxnLst/>
              <a:rect r="r" b="b" t="t" l="l"/>
              <a:pathLst>
                <a:path h="812800" w="4206834">
                  <a:moveTo>
                    <a:pt x="4206834" y="0"/>
                  </a:moveTo>
                  <a:lnTo>
                    <a:pt x="0" y="0"/>
                  </a:lnTo>
                  <a:lnTo>
                    <a:pt x="0" y="624840"/>
                  </a:lnTo>
                  <a:lnTo>
                    <a:pt x="157480" y="624840"/>
                  </a:lnTo>
                  <a:lnTo>
                    <a:pt x="157480" y="812800"/>
                  </a:lnTo>
                  <a:lnTo>
                    <a:pt x="463550" y="624840"/>
                  </a:lnTo>
                  <a:lnTo>
                    <a:pt x="4206834" y="624840"/>
                  </a:lnTo>
                  <a:lnTo>
                    <a:pt x="4206834" y="0"/>
                  </a:lnTo>
                  <a:close/>
                </a:path>
              </a:pathLst>
            </a:custGeom>
            <a:solidFill>
              <a:srgbClr val="000000">
                <a:alpha val="0"/>
              </a:srgbClr>
            </a:solidFill>
            <a:ln w="66675" cap="sq">
              <a:solidFill>
                <a:srgbClr val="56C3D0"/>
              </a:solidFill>
              <a:prstDash val="solid"/>
              <a:miter/>
            </a:ln>
          </p:spPr>
        </p:sp>
        <p:sp>
          <p:nvSpPr>
            <p:cNvPr name="TextBox 14" id="14"/>
            <p:cNvSpPr txBox="true"/>
            <p:nvPr/>
          </p:nvSpPr>
          <p:spPr>
            <a:xfrm>
              <a:off x="0" y="-47625"/>
              <a:ext cx="4206834" cy="669925"/>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3681749" y="639373"/>
            <a:ext cx="10372137" cy="638175"/>
          </a:xfrm>
          <a:prstGeom prst="rect">
            <a:avLst/>
          </a:prstGeom>
        </p:spPr>
        <p:txBody>
          <a:bodyPr anchor="t" rtlCol="false" tIns="0" lIns="0" bIns="0" rIns="0">
            <a:spAutoFit/>
          </a:bodyPr>
          <a:lstStyle/>
          <a:p>
            <a:pPr algn="ctr">
              <a:lnSpc>
                <a:spcPts val="5077"/>
              </a:lnSpc>
            </a:pPr>
            <a:r>
              <a:rPr lang="en-US" sz="4230">
                <a:solidFill>
                  <a:srgbClr val="000000"/>
                </a:solidFill>
                <a:latin typeface="League Spartan"/>
                <a:ea typeface="League Spartan"/>
                <a:cs typeface="League Spartan"/>
                <a:sym typeface="League Spartan"/>
              </a:rPr>
              <a:t>MEASURE OF CLUSTER QUALITY</a:t>
            </a:r>
          </a:p>
        </p:txBody>
      </p:sp>
      <p:sp>
        <p:nvSpPr>
          <p:cNvPr name="TextBox 16" id="16"/>
          <p:cNvSpPr txBox="true"/>
          <p:nvPr/>
        </p:nvSpPr>
        <p:spPr>
          <a:xfrm rot="0">
            <a:off x="1833242" y="2430684"/>
            <a:ext cx="4632903" cy="589916"/>
          </a:xfrm>
          <a:prstGeom prst="rect">
            <a:avLst/>
          </a:prstGeom>
        </p:spPr>
        <p:txBody>
          <a:bodyPr anchor="t" rtlCol="false" tIns="0" lIns="0" bIns="0" rIns="0">
            <a:spAutoFit/>
          </a:bodyPr>
          <a:lstStyle/>
          <a:p>
            <a:pPr algn="ctr">
              <a:lnSpc>
                <a:spcPts val="4759"/>
              </a:lnSpc>
            </a:pPr>
            <a:r>
              <a:rPr lang="en-US" b="true" sz="3399" u="sng">
                <a:solidFill>
                  <a:srgbClr val="000000"/>
                </a:solidFill>
                <a:latin typeface="DG Jory Bold"/>
                <a:ea typeface="DG Jory Bold"/>
                <a:cs typeface="DG Jory Bold"/>
                <a:sym typeface="DG Jory Bold"/>
              </a:rPr>
              <a:t> Silhouette Index (GSI) --</a:t>
            </a:r>
          </a:p>
        </p:txBody>
      </p:sp>
      <p:sp>
        <p:nvSpPr>
          <p:cNvPr name="Freeform 17" id="17"/>
          <p:cNvSpPr/>
          <p:nvPr/>
        </p:nvSpPr>
        <p:spPr>
          <a:xfrm flipH="false" flipV="false" rot="0">
            <a:off x="1441040" y="5143500"/>
            <a:ext cx="574854" cy="487058"/>
          </a:xfrm>
          <a:custGeom>
            <a:avLst/>
            <a:gdLst/>
            <a:ahLst/>
            <a:cxnLst/>
            <a:rect r="r" b="b" t="t" l="l"/>
            <a:pathLst>
              <a:path h="487058" w="574854">
                <a:moveTo>
                  <a:pt x="0" y="0"/>
                </a:moveTo>
                <a:lnTo>
                  <a:pt x="574854" y="0"/>
                </a:lnTo>
                <a:lnTo>
                  <a:pt x="574854" y="487058"/>
                </a:lnTo>
                <a:lnTo>
                  <a:pt x="0" y="4870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2088054" y="5871196"/>
            <a:ext cx="5669428" cy="1139247"/>
          </a:xfrm>
          <a:custGeom>
            <a:avLst/>
            <a:gdLst/>
            <a:ahLst/>
            <a:cxnLst/>
            <a:rect r="r" b="b" t="t" l="l"/>
            <a:pathLst>
              <a:path h="1139247" w="5669428">
                <a:moveTo>
                  <a:pt x="0" y="0"/>
                </a:moveTo>
                <a:lnTo>
                  <a:pt x="5669428" y="0"/>
                </a:lnTo>
                <a:lnTo>
                  <a:pt x="5669428" y="1139246"/>
                </a:lnTo>
                <a:lnTo>
                  <a:pt x="0" y="1139246"/>
                </a:lnTo>
                <a:lnTo>
                  <a:pt x="0" y="0"/>
                </a:lnTo>
                <a:close/>
              </a:path>
            </a:pathLst>
          </a:custGeom>
          <a:blipFill>
            <a:blip r:embed="rId9"/>
            <a:stretch>
              <a:fillRect l="0" t="0" r="0" b="0"/>
            </a:stretch>
          </a:blipFill>
        </p:spPr>
      </p:sp>
      <p:sp>
        <p:nvSpPr>
          <p:cNvPr name="TextBox 19" id="19"/>
          <p:cNvSpPr txBox="true"/>
          <p:nvPr/>
        </p:nvSpPr>
        <p:spPr>
          <a:xfrm rot="0">
            <a:off x="1346248" y="5133975"/>
            <a:ext cx="4632903" cy="589916"/>
          </a:xfrm>
          <a:prstGeom prst="rect">
            <a:avLst/>
          </a:prstGeom>
        </p:spPr>
        <p:txBody>
          <a:bodyPr anchor="t" rtlCol="false" tIns="0" lIns="0" bIns="0" rIns="0">
            <a:spAutoFit/>
          </a:bodyPr>
          <a:lstStyle/>
          <a:p>
            <a:pPr algn="ctr">
              <a:lnSpc>
                <a:spcPts val="4759"/>
              </a:lnSpc>
            </a:pPr>
            <a:r>
              <a:rPr lang="en-US" b="true" sz="3399" u="sng">
                <a:solidFill>
                  <a:srgbClr val="000000"/>
                </a:solidFill>
                <a:latin typeface="DG Jory Bold"/>
                <a:ea typeface="DG Jory Bold"/>
                <a:cs typeface="DG Jory Bold"/>
                <a:sym typeface="DG Jory Bold"/>
              </a:rPr>
              <a:t> Dunn Index (DI) --</a:t>
            </a:r>
          </a:p>
        </p:txBody>
      </p:sp>
      <p:sp>
        <p:nvSpPr>
          <p:cNvPr name="Freeform 20" id="20"/>
          <p:cNvSpPr/>
          <p:nvPr/>
        </p:nvSpPr>
        <p:spPr>
          <a:xfrm flipH="false" flipV="false" rot="0">
            <a:off x="1441040" y="7372256"/>
            <a:ext cx="453949" cy="462691"/>
          </a:xfrm>
          <a:custGeom>
            <a:avLst/>
            <a:gdLst/>
            <a:ahLst/>
            <a:cxnLst/>
            <a:rect r="r" b="b" t="t" l="l"/>
            <a:pathLst>
              <a:path h="462691" w="453949">
                <a:moveTo>
                  <a:pt x="0" y="0"/>
                </a:moveTo>
                <a:lnTo>
                  <a:pt x="453950" y="0"/>
                </a:lnTo>
                <a:lnTo>
                  <a:pt x="453950" y="462690"/>
                </a:lnTo>
                <a:lnTo>
                  <a:pt x="0" y="46269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1" id="21"/>
          <p:cNvSpPr/>
          <p:nvPr/>
        </p:nvSpPr>
        <p:spPr>
          <a:xfrm flipH="false" flipV="false" rot="0">
            <a:off x="2173134" y="8116334"/>
            <a:ext cx="176601" cy="182576"/>
          </a:xfrm>
          <a:custGeom>
            <a:avLst/>
            <a:gdLst/>
            <a:ahLst/>
            <a:cxnLst/>
            <a:rect r="r" b="b" t="t" l="l"/>
            <a:pathLst>
              <a:path h="182576" w="176601">
                <a:moveTo>
                  <a:pt x="0" y="0"/>
                </a:moveTo>
                <a:lnTo>
                  <a:pt x="176601" y="0"/>
                </a:lnTo>
                <a:lnTo>
                  <a:pt x="176601" y="182576"/>
                </a:lnTo>
                <a:lnTo>
                  <a:pt x="0" y="18257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2" id="22"/>
          <p:cNvSpPr txBox="true"/>
          <p:nvPr/>
        </p:nvSpPr>
        <p:spPr>
          <a:xfrm rot="0">
            <a:off x="2005460" y="7267617"/>
            <a:ext cx="5641169" cy="605292"/>
          </a:xfrm>
          <a:prstGeom prst="rect">
            <a:avLst/>
          </a:prstGeom>
        </p:spPr>
        <p:txBody>
          <a:bodyPr anchor="t" rtlCol="false" tIns="0" lIns="0" bIns="0" rIns="0">
            <a:spAutoFit/>
          </a:bodyPr>
          <a:lstStyle/>
          <a:p>
            <a:pPr algn="ctr">
              <a:lnSpc>
                <a:spcPts val="4962"/>
              </a:lnSpc>
              <a:spcBef>
                <a:spcPct val="0"/>
              </a:spcBef>
            </a:pPr>
            <a:r>
              <a:rPr lang="en-US" sz="3544">
                <a:solidFill>
                  <a:srgbClr val="000000"/>
                </a:solidFill>
                <a:latin typeface="DG Jory"/>
                <a:ea typeface="DG Jory"/>
                <a:cs typeface="DG Jory"/>
                <a:sym typeface="DG Jory"/>
              </a:rPr>
              <a:t>Higher </a:t>
            </a:r>
            <a:r>
              <a:rPr lang="en-US" sz="3544">
                <a:solidFill>
                  <a:srgbClr val="000000"/>
                </a:solidFill>
                <a:latin typeface="DG Jory"/>
                <a:ea typeface="DG Jory"/>
                <a:cs typeface="DG Jory"/>
                <a:sym typeface="DG Jory"/>
              </a:rPr>
              <a:t>DI → Better clustering</a:t>
            </a:r>
          </a:p>
        </p:txBody>
      </p:sp>
      <p:sp>
        <p:nvSpPr>
          <p:cNvPr name="TextBox 23" id="23"/>
          <p:cNvSpPr txBox="true"/>
          <p:nvPr/>
        </p:nvSpPr>
        <p:spPr>
          <a:xfrm rot="0">
            <a:off x="2456388" y="7996734"/>
            <a:ext cx="7638635" cy="1056517"/>
          </a:xfrm>
          <a:prstGeom prst="rect">
            <a:avLst/>
          </a:prstGeom>
        </p:spPr>
        <p:txBody>
          <a:bodyPr anchor="t" rtlCol="false" tIns="0" lIns="0" bIns="0" rIns="0">
            <a:spAutoFit/>
          </a:bodyPr>
          <a:lstStyle/>
          <a:p>
            <a:pPr algn="l">
              <a:lnSpc>
                <a:spcPts val="4241"/>
              </a:lnSpc>
              <a:spcBef>
                <a:spcPct val="0"/>
              </a:spcBef>
            </a:pPr>
            <a:r>
              <a:rPr lang="en-US" sz="3029">
                <a:solidFill>
                  <a:srgbClr val="000000"/>
                </a:solidFill>
                <a:latin typeface="DG Jory"/>
                <a:ea typeface="DG Jory"/>
                <a:cs typeface="DG Jory"/>
                <a:sym typeface="DG Jory"/>
              </a:rPr>
              <a:t>Ratio of minimum inter-cluster distance to maximum intra-cluster distance.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true" flipV="true" rot="0">
            <a:off x="13082137" y="-495020"/>
            <a:ext cx="9287959" cy="8409825"/>
          </a:xfrm>
          <a:custGeom>
            <a:avLst/>
            <a:gdLst/>
            <a:ahLst/>
            <a:cxnLst/>
            <a:rect r="r" b="b" t="t" l="l"/>
            <a:pathLst>
              <a:path h="8409825" w="9287959">
                <a:moveTo>
                  <a:pt x="9287960" y="8409824"/>
                </a:moveTo>
                <a:lnTo>
                  <a:pt x="0" y="8409824"/>
                </a:lnTo>
                <a:lnTo>
                  <a:pt x="0" y="0"/>
                </a:lnTo>
                <a:lnTo>
                  <a:pt x="9287960" y="0"/>
                </a:lnTo>
                <a:lnTo>
                  <a:pt x="9287960" y="8409824"/>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3195853" y="126167"/>
            <a:ext cx="10372137" cy="1805067"/>
            <a:chOff x="0" y="0"/>
            <a:chExt cx="13829516" cy="2406756"/>
          </a:xfrm>
        </p:grpSpPr>
        <p:grpSp>
          <p:nvGrpSpPr>
            <p:cNvPr name="Group 6" id="6"/>
            <p:cNvGrpSpPr/>
            <p:nvPr/>
          </p:nvGrpSpPr>
          <p:grpSpPr>
            <a:xfrm rot="0">
              <a:off x="737066" y="0"/>
              <a:ext cx="12237649" cy="2364429"/>
              <a:chOff x="0" y="0"/>
              <a:chExt cx="4206834" cy="812800"/>
            </a:xfrm>
          </p:grpSpPr>
          <p:sp>
            <p:nvSpPr>
              <p:cNvPr name="Freeform 7" id="7"/>
              <p:cNvSpPr/>
              <p:nvPr/>
            </p:nvSpPr>
            <p:spPr>
              <a:xfrm flipH="false" flipV="false" rot="0">
                <a:off x="0" y="0"/>
                <a:ext cx="4206834" cy="812800"/>
              </a:xfrm>
              <a:custGeom>
                <a:avLst/>
                <a:gdLst/>
                <a:ahLst/>
                <a:cxnLst/>
                <a:rect r="r" b="b" t="t" l="l"/>
                <a:pathLst>
                  <a:path h="812800" w="4206834">
                    <a:moveTo>
                      <a:pt x="4206834" y="0"/>
                    </a:moveTo>
                    <a:lnTo>
                      <a:pt x="0" y="0"/>
                    </a:lnTo>
                    <a:lnTo>
                      <a:pt x="0" y="624840"/>
                    </a:lnTo>
                    <a:lnTo>
                      <a:pt x="157480" y="624840"/>
                    </a:lnTo>
                    <a:lnTo>
                      <a:pt x="157480" y="812800"/>
                    </a:lnTo>
                    <a:lnTo>
                      <a:pt x="463550" y="624840"/>
                    </a:lnTo>
                    <a:lnTo>
                      <a:pt x="4206834" y="624840"/>
                    </a:lnTo>
                    <a:lnTo>
                      <a:pt x="4206834" y="0"/>
                    </a:lnTo>
                    <a:close/>
                  </a:path>
                </a:pathLst>
              </a:custGeom>
              <a:solidFill>
                <a:srgbClr val="9BDAE9"/>
              </a:solidFill>
              <a:ln cap="sq">
                <a:noFill/>
                <a:prstDash val="solid"/>
                <a:miter/>
              </a:ln>
            </p:spPr>
          </p:sp>
          <p:sp>
            <p:nvSpPr>
              <p:cNvPr name="TextBox 8" id="8"/>
              <p:cNvSpPr txBox="true"/>
              <p:nvPr/>
            </p:nvSpPr>
            <p:spPr>
              <a:xfrm>
                <a:off x="0" y="-47625"/>
                <a:ext cx="4206834" cy="6699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795933" y="42326"/>
              <a:ext cx="12237649" cy="2364429"/>
              <a:chOff x="0" y="0"/>
              <a:chExt cx="4206834" cy="812800"/>
            </a:xfrm>
          </p:grpSpPr>
          <p:sp>
            <p:nvSpPr>
              <p:cNvPr name="Freeform 10" id="10"/>
              <p:cNvSpPr/>
              <p:nvPr/>
            </p:nvSpPr>
            <p:spPr>
              <a:xfrm flipH="false" flipV="false" rot="0">
                <a:off x="0" y="0"/>
                <a:ext cx="4206834" cy="812800"/>
              </a:xfrm>
              <a:custGeom>
                <a:avLst/>
                <a:gdLst/>
                <a:ahLst/>
                <a:cxnLst/>
                <a:rect r="r" b="b" t="t" l="l"/>
                <a:pathLst>
                  <a:path h="812800" w="4206834">
                    <a:moveTo>
                      <a:pt x="4206834" y="0"/>
                    </a:moveTo>
                    <a:lnTo>
                      <a:pt x="0" y="0"/>
                    </a:lnTo>
                    <a:lnTo>
                      <a:pt x="0" y="624840"/>
                    </a:lnTo>
                    <a:lnTo>
                      <a:pt x="157480" y="624840"/>
                    </a:lnTo>
                    <a:lnTo>
                      <a:pt x="157480" y="812800"/>
                    </a:lnTo>
                    <a:lnTo>
                      <a:pt x="463550" y="624840"/>
                    </a:lnTo>
                    <a:lnTo>
                      <a:pt x="4206834" y="624840"/>
                    </a:lnTo>
                    <a:lnTo>
                      <a:pt x="4206834" y="0"/>
                    </a:lnTo>
                    <a:close/>
                  </a:path>
                </a:pathLst>
              </a:custGeom>
              <a:solidFill>
                <a:srgbClr val="000000">
                  <a:alpha val="0"/>
                </a:srgbClr>
              </a:solidFill>
              <a:ln w="66675" cap="sq">
                <a:solidFill>
                  <a:srgbClr val="56C3D0"/>
                </a:solidFill>
                <a:prstDash val="solid"/>
                <a:miter/>
              </a:ln>
            </p:spPr>
          </p:sp>
          <p:sp>
            <p:nvSpPr>
              <p:cNvPr name="TextBox 11" id="11"/>
              <p:cNvSpPr txBox="true"/>
              <p:nvPr/>
            </p:nvSpPr>
            <p:spPr>
              <a:xfrm>
                <a:off x="0" y="-47625"/>
                <a:ext cx="4206834" cy="66992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0" y="373641"/>
              <a:ext cx="13829516" cy="850900"/>
            </a:xfrm>
            <a:prstGeom prst="rect">
              <a:avLst/>
            </a:prstGeom>
          </p:spPr>
          <p:txBody>
            <a:bodyPr anchor="t" rtlCol="false" tIns="0" lIns="0" bIns="0" rIns="0">
              <a:spAutoFit/>
            </a:bodyPr>
            <a:lstStyle/>
            <a:p>
              <a:pPr algn="ctr">
                <a:lnSpc>
                  <a:spcPts val="5077"/>
                </a:lnSpc>
              </a:pPr>
              <a:r>
                <a:rPr lang="en-US" sz="4230">
                  <a:solidFill>
                    <a:srgbClr val="000000"/>
                  </a:solidFill>
                  <a:latin typeface="League Spartan"/>
                  <a:ea typeface="League Spartan"/>
                  <a:cs typeface="League Spartan"/>
                  <a:sym typeface="League Spartan"/>
                </a:rPr>
                <a:t>MEASURE OF CLUSTER QUALITY</a:t>
              </a:r>
            </a:p>
          </p:txBody>
        </p:sp>
      </p:grpSp>
      <p:sp>
        <p:nvSpPr>
          <p:cNvPr name="Freeform 13" id="13"/>
          <p:cNvSpPr/>
          <p:nvPr/>
        </p:nvSpPr>
        <p:spPr>
          <a:xfrm flipH="false" flipV="false" rot="0">
            <a:off x="1819585" y="2876229"/>
            <a:ext cx="176601" cy="182576"/>
          </a:xfrm>
          <a:custGeom>
            <a:avLst/>
            <a:gdLst/>
            <a:ahLst/>
            <a:cxnLst/>
            <a:rect r="r" b="b" t="t" l="l"/>
            <a:pathLst>
              <a:path h="182576" w="176601">
                <a:moveTo>
                  <a:pt x="0" y="0"/>
                </a:moveTo>
                <a:lnTo>
                  <a:pt x="176600" y="0"/>
                </a:lnTo>
                <a:lnTo>
                  <a:pt x="176600" y="182576"/>
                </a:lnTo>
                <a:lnTo>
                  <a:pt x="0" y="1825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1744855" y="2016398"/>
            <a:ext cx="4225357" cy="673436"/>
          </a:xfrm>
          <a:prstGeom prst="rect">
            <a:avLst/>
          </a:prstGeom>
        </p:spPr>
        <p:txBody>
          <a:bodyPr anchor="t" rtlCol="false" tIns="0" lIns="0" bIns="0" rIns="0">
            <a:spAutoFit/>
          </a:bodyPr>
          <a:lstStyle/>
          <a:p>
            <a:pPr algn="ctr">
              <a:lnSpc>
                <a:spcPts val="5406"/>
              </a:lnSpc>
              <a:spcBef>
                <a:spcPct val="0"/>
              </a:spcBef>
            </a:pPr>
            <a:r>
              <a:rPr lang="en-US" b="true" sz="3861">
                <a:solidFill>
                  <a:srgbClr val="000000"/>
                </a:solidFill>
                <a:latin typeface="DG Jory Bold"/>
                <a:ea typeface="DG Jory Bold"/>
                <a:cs typeface="DG Jory Bold"/>
                <a:sym typeface="DG Jory Bold"/>
              </a:rPr>
              <a:t>P</a:t>
            </a:r>
            <a:r>
              <a:rPr lang="en-US" b="true" sz="3861">
                <a:solidFill>
                  <a:srgbClr val="000000"/>
                </a:solidFill>
                <a:latin typeface="DG Jory Bold"/>
                <a:ea typeface="DG Jory Bold"/>
                <a:cs typeface="DG Jory Bold"/>
                <a:sym typeface="DG Jory Bold"/>
              </a:rPr>
              <a:t>artition Index (PI) --</a:t>
            </a:r>
          </a:p>
        </p:txBody>
      </p:sp>
      <p:sp>
        <p:nvSpPr>
          <p:cNvPr name="TextBox 15" id="15"/>
          <p:cNvSpPr txBox="true"/>
          <p:nvPr/>
        </p:nvSpPr>
        <p:spPr>
          <a:xfrm rot="0">
            <a:off x="2150713" y="2635729"/>
            <a:ext cx="11122105" cy="596901"/>
          </a:xfrm>
          <a:prstGeom prst="rect">
            <a:avLst/>
          </a:prstGeom>
        </p:spPr>
        <p:txBody>
          <a:bodyPr anchor="t" rtlCol="false" tIns="0" lIns="0" bIns="0" rIns="0">
            <a:spAutoFit/>
          </a:bodyPr>
          <a:lstStyle/>
          <a:p>
            <a:pPr algn="ctr">
              <a:lnSpc>
                <a:spcPts val="4899"/>
              </a:lnSpc>
            </a:pPr>
            <a:r>
              <a:rPr lang="en-US" sz="3499">
                <a:solidFill>
                  <a:srgbClr val="000000"/>
                </a:solidFill>
                <a:latin typeface="DG Jory"/>
                <a:ea typeface="DG Jory"/>
                <a:cs typeface="DG Jory"/>
                <a:sym typeface="DG Jory"/>
              </a:rPr>
              <a:t>Rati</a:t>
            </a:r>
            <a:r>
              <a:rPr lang="en-US" sz="3499">
                <a:solidFill>
                  <a:srgbClr val="000000"/>
                </a:solidFill>
                <a:latin typeface="DG Jory"/>
                <a:ea typeface="DG Jory"/>
                <a:cs typeface="DG Jory"/>
                <a:sym typeface="DG Jory"/>
              </a:rPr>
              <a:t>o of intra-cluster compactness to inter-cluster separation.</a:t>
            </a:r>
          </a:p>
        </p:txBody>
      </p:sp>
      <p:sp>
        <p:nvSpPr>
          <p:cNvPr name="Freeform 16" id="16"/>
          <p:cNvSpPr/>
          <p:nvPr/>
        </p:nvSpPr>
        <p:spPr>
          <a:xfrm flipH="false" flipV="false" rot="0">
            <a:off x="1244628" y="2102123"/>
            <a:ext cx="500227" cy="423828"/>
          </a:xfrm>
          <a:custGeom>
            <a:avLst/>
            <a:gdLst/>
            <a:ahLst/>
            <a:cxnLst/>
            <a:rect r="r" b="b" t="t" l="l"/>
            <a:pathLst>
              <a:path h="423828" w="500227">
                <a:moveTo>
                  <a:pt x="0" y="0"/>
                </a:moveTo>
                <a:lnTo>
                  <a:pt x="500227" y="0"/>
                </a:lnTo>
                <a:lnTo>
                  <a:pt x="500227" y="423829"/>
                </a:lnTo>
                <a:lnTo>
                  <a:pt x="0" y="4238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5413297" y="3232630"/>
            <a:ext cx="5025969" cy="1068018"/>
          </a:xfrm>
          <a:custGeom>
            <a:avLst/>
            <a:gdLst/>
            <a:ahLst/>
            <a:cxnLst/>
            <a:rect r="r" b="b" t="t" l="l"/>
            <a:pathLst>
              <a:path h="1068018" w="5025969">
                <a:moveTo>
                  <a:pt x="0" y="0"/>
                </a:moveTo>
                <a:lnTo>
                  <a:pt x="5025968" y="0"/>
                </a:lnTo>
                <a:lnTo>
                  <a:pt x="5025968" y="1068018"/>
                </a:lnTo>
                <a:lnTo>
                  <a:pt x="0" y="1068018"/>
                </a:lnTo>
                <a:lnTo>
                  <a:pt x="0" y="0"/>
                </a:lnTo>
                <a:close/>
              </a:path>
            </a:pathLst>
          </a:custGeom>
          <a:blipFill>
            <a:blip r:embed="rId8"/>
            <a:stretch>
              <a:fillRect l="0" t="0" r="0" b="0"/>
            </a:stretch>
          </a:blipFill>
        </p:spPr>
      </p:sp>
      <p:sp>
        <p:nvSpPr>
          <p:cNvPr name="Freeform 18" id="18"/>
          <p:cNvSpPr/>
          <p:nvPr/>
        </p:nvSpPr>
        <p:spPr>
          <a:xfrm flipH="false" flipV="false" rot="0">
            <a:off x="1244628" y="4510061"/>
            <a:ext cx="453949" cy="462691"/>
          </a:xfrm>
          <a:custGeom>
            <a:avLst/>
            <a:gdLst/>
            <a:ahLst/>
            <a:cxnLst/>
            <a:rect r="r" b="b" t="t" l="l"/>
            <a:pathLst>
              <a:path h="462691" w="453949">
                <a:moveTo>
                  <a:pt x="0" y="0"/>
                </a:moveTo>
                <a:lnTo>
                  <a:pt x="453950" y="0"/>
                </a:lnTo>
                <a:lnTo>
                  <a:pt x="453950" y="462691"/>
                </a:lnTo>
                <a:lnTo>
                  <a:pt x="0" y="46269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false" flipV="false" rot="0">
            <a:off x="1819585" y="5292240"/>
            <a:ext cx="176601" cy="182576"/>
          </a:xfrm>
          <a:custGeom>
            <a:avLst/>
            <a:gdLst/>
            <a:ahLst/>
            <a:cxnLst/>
            <a:rect r="r" b="b" t="t" l="l"/>
            <a:pathLst>
              <a:path h="182576" w="176601">
                <a:moveTo>
                  <a:pt x="0" y="0"/>
                </a:moveTo>
                <a:lnTo>
                  <a:pt x="176600" y="0"/>
                </a:lnTo>
                <a:lnTo>
                  <a:pt x="176600" y="182576"/>
                </a:lnTo>
                <a:lnTo>
                  <a:pt x="0" y="1825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0" id="20"/>
          <p:cNvSpPr txBox="true"/>
          <p:nvPr/>
        </p:nvSpPr>
        <p:spPr>
          <a:xfrm rot="0">
            <a:off x="1809048" y="4405423"/>
            <a:ext cx="5297448" cy="605292"/>
          </a:xfrm>
          <a:prstGeom prst="rect">
            <a:avLst/>
          </a:prstGeom>
        </p:spPr>
        <p:txBody>
          <a:bodyPr anchor="t" rtlCol="false" tIns="0" lIns="0" bIns="0" rIns="0">
            <a:spAutoFit/>
          </a:bodyPr>
          <a:lstStyle/>
          <a:p>
            <a:pPr algn="ctr">
              <a:lnSpc>
                <a:spcPts val="4962"/>
              </a:lnSpc>
              <a:spcBef>
                <a:spcPct val="0"/>
              </a:spcBef>
            </a:pPr>
            <a:r>
              <a:rPr lang="en-US" sz="3544">
                <a:solidFill>
                  <a:srgbClr val="000000"/>
                </a:solidFill>
                <a:latin typeface="DG Jory"/>
                <a:ea typeface="DG Jory"/>
                <a:cs typeface="DG Jory"/>
                <a:sym typeface="DG Jory"/>
              </a:rPr>
              <a:t>L</a:t>
            </a:r>
            <a:r>
              <a:rPr lang="en-US" sz="3544">
                <a:solidFill>
                  <a:srgbClr val="000000"/>
                </a:solidFill>
                <a:latin typeface="DG Jory"/>
                <a:ea typeface="DG Jory"/>
                <a:cs typeface="DG Jory"/>
                <a:sym typeface="DG Jory"/>
              </a:rPr>
              <a:t>ower PI → Better clustering</a:t>
            </a:r>
          </a:p>
        </p:txBody>
      </p:sp>
      <p:sp>
        <p:nvSpPr>
          <p:cNvPr name="TextBox 21" id="21"/>
          <p:cNvSpPr txBox="true"/>
          <p:nvPr/>
        </p:nvSpPr>
        <p:spPr>
          <a:xfrm rot="0">
            <a:off x="1996185" y="5152383"/>
            <a:ext cx="7638635" cy="433582"/>
          </a:xfrm>
          <a:prstGeom prst="rect">
            <a:avLst/>
          </a:prstGeom>
        </p:spPr>
        <p:txBody>
          <a:bodyPr anchor="t" rtlCol="false" tIns="0" lIns="0" bIns="0" rIns="0">
            <a:spAutoFit/>
          </a:bodyPr>
          <a:lstStyle/>
          <a:p>
            <a:pPr algn="ctr">
              <a:lnSpc>
                <a:spcPts val="3401"/>
              </a:lnSpc>
              <a:spcBef>
                <a:spcPct val="0"/>
              </a:spcBef>
            </a:pPr>
            <a:r>
              <a:rPr lang="en-US" sz="2429">
                <a:solidFill>
                  <a:srgbClr val="000000"/>
                </a:solidFill>
                <a:latin typeface="DG Jory"/>
                <a:ea typeface="DG Jory"/>
                <a:cs typeface="DG Jory"/>
                <a:sym typeface="DG Jory"/>
              </a:rPr>
              <a:t>Clusters are m</a:t>
            </a:r>
            <a:r>
              <a:rPr lang="en-US" sz="2429">
                <a:solidFill>
                  <a:srgbClr val="000000"/>
                </a:solidFill>
                <a:latin typeface="DG Jory"/>
                <a:ea typeface="DG Jory"/>
                <a:cs typeface="DG Jory"/>
                <a:sym typeface="DG Jory"/>
              </a:rPr>
              <a:t>ore compact (points are closer to their center)</a:t>
            </a:r>
          </a:p>
        </p:txBody>
      </p:sp>
      <p:sp>
        <p:nvSpPr>
          <p:cNvPr name="TextBox 22" id="22"/>
          <p:cNvSpPr txBox="true"/>
          <p:nvPr/>
        </p:nvSpPr>
        <p:spPr>
          <a:xfrm rot="0">
            <a:off x="2081752" y="5708715"/>
            <a:ext cx="5997556" cy="42227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DG Jory"/>
                <a:ea typeface="DG Jory"/>
                <a:cs typeface="DG Jory"/>
                <a:sym typeface="DG Jory"/>
              </a:rPr>
              <a:t>Cl</a:t>
            </a:r>
            <a:r>
              <a:rPr lang="en-US" sz="2499">
                <a:solidFill>
                  <a:srgbClr val="000000"/>
                </a:solidFill>
                <a:latin typeface="DG Jory"/>
                <a:ea typeface="DG Jory"/>
                <a:cs typeface="DG Jory"/>
                <a:sym typeface="DG Jory"/>
              </a:rPr>
              <a:t>usters are better separated from each other</a:t>
            </a:r>
          </a:p>
        </p:txBody>
      </p:sp>
      <p:sp>
        <p:nvSpPr>
          <p:cNvPr name="Freeform 23" id="23"/>
          <p:cNvSpPr/>
          <p:nvPr/>
        </p:nvSpPr>
        <p:spPr>
          <a:xfrm flipH="false" flipV="false" rot="0">
            <a:off x="1819585" y="5852377"/>
            <a:ext cx="176601" cy="182576"/>
          </a:xfrm>
          <a:custGeom>
            <a:avLst/>
            <a:gdLst/>
            <a:ahLst/>
            <a:cxnLst/>
            <a:rect r="r" b="b" t="t" l="l"/>
            <a:pathLst>
              <a:path h="182576" w="176601">
                <a:moveTo>
                  <a:pt x="0" y="0"/>
                </a:moveTo>
                <a:lnTo>
                  <a:pt x="176600" y="0"/>
                </a:lnTo>
                <a:lnTo>
                  <a:pt x="176600" y="182576"/>
                </a:lnTo>
                <a:lnTo>
                  <a:pt x="0" y="1825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false" flipV="false" rot="0">
            <a:off x="1747198" y="7173541"/>
            <a:ext cx="335273" cy="346617"/>
          </a:xfrm>
          <a:custGeom>
            <a:avLst/>
            <a:gdLst/>
            <a:ahLst/>
            <a:cxnLst/>
            <a:rect r="r" b="b" t="t" l="l"/>
            <a:pathLst>
              <a:path h="346617" w="335273">
                <a:moveTo>
                  <a:pt x="0" y="0"/>
                </a:moveTo>
                <a:lnTo>
                  <a:pt x="335273" y="0"/>
                </a:lnTo>
                <a:lnTo>
                  <a:pt x="335273" y="346618"/>
                </a:lnTo>
                <a:lnTo>
                  <a:pt x="0" y="3466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1612853" y="8165818"/>
            <a:ext cx="6466456" cy="1196294"/>
          </a:xfrm>
          <a:custGeom>
            <a:avLst/>
            <a:gdLst/>
            <a:ahLst/>
            <a:cxnLst/>
            <a:rect r="r" b="b" t="t" l="l"/>
            <a:pathLst>
              <a:path h="1196294" w="6466456">
                <a:moveTo>
                  <a:pt x="0" y="0"/>
                </a:moveTo>
                <a:lnTo>
                  <a:pt x="6466455" y="0"/>
                </a:lnTo>
                <a:lnTo>
                  <a:pt x="6466455" y="1196294"/>
                </a:lnTo>
                <a:lnTo>
                  <a:pt x="0" y="1196294"/>
                </a:lnTo>
                <a:lnTo>
                  <a:pt x="0" y="0"/>
                </a:lnTo>
                <a:close/>
              </a:path>
            </a:pathLst>
          </a:custGeom>
          <a:blipFill>
            <a:blip r:embed="rId11"/>
            <a:stretch>
              <a:fillRect l="0" t="0" r="0" b="0"/>
            </a:stretch>
          </a:blipFill>
        </p:spPr>
      </p:sp>
      <p:sp>
        <p:nvSpPr>
          <p:cNvPr name="TextBox 26" id="26"/>
          <p:cNvSpPr txBox="true"/>
          <p:nvPr/>
        </p:nvSpPr>
        <p:spPr>
          <a:xfrm rot="0">
            <a:off x="1698578" y="6503845"/>
            <a:ext cx="4295544" cy="596901"/>
          </a:xfrm>
          <a:prstGeom prst="rect">
            <a:avLst/>
          </a:prstGeom>
        </p:spPr>
        <p:txBody>
          <a:bodyPr anchor="t" rtlCol="false" tIns="0" lIns="0" bIns="0" rIns="0">
            <a:spAutoFit/>
          </a:bodyPr>
          <a:lstStyle/>
          <a:p>
            <a:pPr algn="ctr">
              <a:lnSpc>
                <a:spcPts val="4899"/>
              </a:lnSpc>
              <a:spcBef>
                <a:spcPct val="0"/>
              </a:spcBef>
            </a:pPr>
            <a:r>
              <a:rPr lang="en-US" b="true" sz="3499">
                <a:solidFill>
                  <a:srgbClr val="000000"/>
                </a:solidFill>
                <a:latin typeface="DG Jory Bold"/>
                <a:ea typeface="DG Jory Bold"/>
                <a:cs typeface="DG Jory Bold"/>
                <a:sym typeface="DG Jory Bold"/>
              </a:rPr>
              <a:t>Separation Index (SI)--</a:t>
            </a:r>
          </a:p>
        </p:txBody>
      </p:sp>
      <p:sp>
        <p:nvSpPr>
          <p:cNvPr name="TextBox 27" id="27"/>
          <p:cNvSpPr txBox="true"/>
          <p:nvPr/>
        </p:nvSpPr>
        <p:spPr>
          <a:xfrm rot="0">
            <a:off x="2082471" y="7106866"/>
            <a:ext cx="10792245" cy="986156"/>
          </a:xfrm>
          <a:prstGeom prst="rect">
            <a:avLst/>
          </a:prstGeom>
        </p:spPr>
        <p:txBody>
          <a:bodyPr anchor="t" rtlCol="false" tIns="0" lIns="0" bIns="0" rIns="0">
            <a:spAutoFit/>
          </a:bodyPr>
          <a:lstStyle/>
          <a:p>
            <a:pPr algn="ctr">
              <a:lnSpc>
                <a:spcPts val="3919"/>
              </a:lnSpc>
              <a:spcBef>
                <a:spcPct val="0"/>
              </a:spcBef>
            </a:pPr>
            <a:r>
              <a:rPr lang="en-US" sz="2799">
                <a:solidFill>
                  <a:srgbClr val="000000"/>
                </a:solidFill>
                <a:latin typeface="DG Jory"/>
                <a:ea typeface="DG Jory"/>
                <a:cs typeface="DG Jory"/>
                <a:sym typeface="DG Jory"/>
              </a:rPr>
              <a:t>The Separation Index checks how far apart the clusters are fro</a:t>
            </a:r>
            <a:r>
              <a:rPr lang="en-US" sz="2799">
                <a:solidFill>
                  <a:srgbClr val="000000"/>
                </a:solidFill>
                <a:latin typeface="DG Jory"/>
                <a:ea typeface="DG Jory"/>
                <a:cs typeface="DG Jory"/>
                <a:sym typeface="DG Jory"/>
              </a:rPr>
              <a:t>m each other, and also looks at how tightly packed the points are within each cluster.</a:t>
            </a:r>
          </a:p>
        </p:txBody>
      </p:sp>
      <p:sp>
        <p:nvSpPr>
          <p:cNvPr name="Freeform 28" id="28"/>
          <p:cNvSpPr/>
          <p:nvPr/>
        </p:nvSpPr>
        <p:spPr>
          <a:xfrm flipH="false" flipV="false" rot="0">
            <a:off x="1211965" y="6570520"/>
            <a:ext cx="500227" cy="423828"/>
          </a:xfrm>
          <a:custGeom>
            <a:avLst/>
            <a:gdLst/>
            <a:ahLst/>
            <a:cxnLst/>
            <a:rect r="r" b="b" t="t" l="l"/>
            <a:pathLst>
              <a:path h="423828" w="500227">
                <a:moveTo>
                  <a:pt x="0" y="0"/>
                </a:moveTo>
                <a:lnTo>
                  <a:pt x="500226" y="0"/>
                </a:lnTo>
                <a:lnTo>
                  <a:pt x="500226" y="423828"/>
                </a:lnTo>
                <a:lnTo>
                  <a:pt x="0" y="4238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3205962" y="-599524"/>
            <a:ext cx="9287959" cy="8409825"/>
          </a:xfrm>
          <a:custGeom>
            <a:avLst/>
            <a:gdLst/>
            <a:ahLst/>
            <a:cxnLst/>
            <a:rect r="r" b="b" t="t" l="l"/>
            <a:pathLst>
              <a:path h="8409825" w="9287959">
                <a:moveTo>
                  <a:pt x="9287960" y="8409825"/>
                </a:moveTo>
                <a:lnTo>
                  <a:pt x="0" y="8409825"/>
                </a:lnTo>
                <a:lnTo>
                  <a:pt x="0" y="0"/>
                </a:lnTo>
                <a:lnTo>
                  <a:pt x="9287960" y="0"/>
                </a:lnTo>
                <a:lnTo>
                  <a:pt x="9287960" y="840982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07933" y="8049787"/>
            <a:ext cx="7360133" cy="6664266"/>
          </a:xfrm>
          <a:custGeom>
            <a:avLst/>
            <a:gdLst/>
            <a:ahLst/>
            <a:cxnLst/>
            <a:rect r="r" b="b" t="t" l="l"/>
            <a:pathLst>
              <a:path h="6664266" w="7360133">
                <a:moveTo>
                  <a:pt x="0" y="0"/>
                </a:moveTo>
                <a:lnTo>
                  <a:pt x="7360134" y="0"/>
                </a:lnTo>
                <a:lnTo>
                  <a:pt x="7360134" y="6664267"/>
                </a:lnTo>
                <a:lnTo>
                  <a:pt x="0" y="6664267"/>
                </a:lnTo>
                <a:lnTo>
                  <a:pt x="0" y="0"/>
                </a:lnTo>
                <a:close/>
              </a:path>
            </a:pathLst>
          </a:custGeom>
          <a:blipFill>
            <a:blip r:embed="rId2">
              <a:alphaModFix amt="31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true" flipV="false" rot="0">
            <a:off x="8303269" y="8738243"/>
            <a:ext cx="7360133" cy="6664266"/>
          </a:xfrm>
          <a:custGeom>
            <a:avLst/>
            <a:gdLst/>
            <a:ahLst/>
            <a:cxnLst/>
            <a:rect r="r" b="b" t="t" l="l"/>
            <a:pathLst>
              <a:path h="6664266" w="7360133">
                <a:moveTo>
                  <a:pt x="7360133" y="0"/>
                </a:moveTo>
                <a:lnTo>
                  <a:pt x="0" y="0"/>
                </a:lnTo>
                <a:lnTo>
                  <a:pt x="0" y="6664266"/>
                </a:lnTo>
                <a:lnTo>
                  <a:pt x="7360133" y="6664266"/>
                </a:lnTo>
                <a:lnTo>
                  <a:pt x="7360133"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5" id="5"/>
          <p:cNvGrpSpPr/>
          <p:nvPr/>
        </p:nvGrpSpPr>
        <p:grpSpPr>
          <a:xfrm rot="0">
            <a:off x="6075846" y="224159"/>
            <a:ext cx="5994124" cy="1773322"/>
            <a:chOff x="0" y="0"/>
            <a:chExt cx="2747400" cy="812800"/>
          </a:xfrm>
        </p:grpSpPr>
        <p:sp>
          <p:nvSpPr>
            <p:cNvPr name="Freeform 6" id="6"/>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7" id="7"/>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6075846" y="224167"/>
            <a:ext cx="5994124" cy="1773322"/>
            <a:chOff x="0" y="0"/>
            <a:chExt cx="2747400" cy="812800"/>
          </a:xfrm>
        </p:grpSpPr>
        <p:sp>
          <p:nvSpPr>
            <p:cNvPr name="Freeform 9" id="9"/>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name="TextBox 10" id="10"/>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881786" y="2993589"/>
            <a:ext cx="16043880" cy="8077835"/>
          </a:xfrm>
          <a:prstGeom prst="rect">
            <a:avLst/>
          </a:prstGeom>
        </p:spPr>
        <p:txBody>
          <a:bodyPr anchor="t" rtlCol="false" tIns="0" lIns="0" bIns="0" rIns="0">
            <a:spAutoFit/>
          </a:bodyPr>
          <a:lstStyle/>
          <a:p>
            <a:pPr algn="l" marL="755649" indent="-377824" lvl="1">
              <a:lnSpc>
                <a:spcPts val="4899"/>
              </a:lnSpc>
              <a:buFont typeface="Arial"/>
              <a:buChar char="•"/>
            </a:pPr>
            <a:r>
              <a:rPr lang="en-US" sz="3499" u="sng">
                <a:solidFill>
                  <a:srgbClr val="000000"/>
                </a:solidFill>
                <a:latin typeface="DG Jory"/>
                <a:ea typeface="DG Jory"/>
                <a:cs typeface="DG Jory"/>
                <a:sym typeface="DG Jory"/>
              </a:rPr>
              <a:t>Step 1)</a:t>
            </a:r>
          </a:p>
          <a:p>
            <a:pPr algn="l" marL="1381761" indent="-460587" lvl="2">
              <a:lnSpc>
                <a:spcPts val="4480"/>
              </a:lnSpc>
              <a:buFont typeface="Arial"/>
              <a:buChar char="⚬"/>
            </a:pPr>
            <a:r>
              <a:rPr lang="en-US" sz="3200">
                <a:solidFill>
                  <a:srgbClr val="000000"/>
                </a:solidFill>
                <a:latin typeface="DG Jory"/>
                <a:ea typeface="DG Jory"/>
                <a:cs typeface="DG Jory"/>
                <a:sym typeface="DG Jory"/>
              </a:rPr>
              <a:t>To fit all the points in an hyperspace, we normalize the points:</a:t>
            </a:r>
          </a:p>
          <a:p>
            <a:pPr algn="l">
              <a:lnSpc>
                <a:spcPts val="4480"/>
              </a:lnSpc>
            </a:pPr>
            <a:r>
              <a:rPr lang="en-US" sz="3200">
                <a:solidFill>
                  <a:srgbClr val="000000"/>
                </a:solidFill>
                <a:latin typeface="DG Jory"/>
                <a:ea typeface="DG Jory"/>
                <a:cs typeface="DG Jory"/>
                <a:sym typeface="DG Jory"/>
              </a:rPr>
              <a:t>                                                          xj = (xj − (x)min)/((x)max − (x)min)     for j = 1, 2, 3, . . . , n</a:t>
            </a:r>
          </a:p>
          <a:p>
            <a:pPr algn="l" marL="755651" indent="-377825" lvl="1">
              <a:lnSpc>
                <a:spcPts val="4900"/>
              </a:lnSpc>
              <a:buFont typeface="Arial"/>
              <a:buChar char="•"/>
            </a:pPr>
            <a:r>
              <a:rPr lang="en-US" sz="3500" u="sng">
                <a:solidFill>
                  <a:srgbClr val="000000"/>
                </a:solidFill>
                <a:latin typeface="DG Jory"/>
                <a:ea typeface="DG Jory"/>
                <a:cs typeface="DG Jory"/>
                <a:sym typeface="DG Jory"/>
              </a:rPr>
              <a:t>Step 2)</a:t>
            </a:r>
          </a:p>
          <a:p>
            <a:pPr algn="l" marL="1381761" indent="-460587" lvl="2">
              <a:lnSpc>
                <a:spcPts val="4480"/>
              </a:lnSpc>
              <a:buFont typeface="Arial"/>
              <a:buChar char="⚬"/>
            </a:pPr>
            <a:r>
              <a:rPr lang="en-US" sz="3200">
                <a:solidFill>
                  <a:srgbClr val="000000"/>
                </a:solidFill>
                <a:latin typeface="DG Jory"/>
                <a:ea typeface="DG Jory"/>
                <a:cs typeface="DG Jory"/>
                <a:sym typeface="DG Jory"/>
              </a:rPr>
              <a:t>Threshold Function (δm) Calculation:  </a:t>
            </a:r>
          </a:p>
          <a:p>
            <a:pPr algn="l" marL="755649" indent="-377824" lvl="1">
              <a:lnSpc>
                <a:spcPts val="4899"/>
              </a:lnSpc>
              <a:buFont typeface="Arial"/>
              <a:buChar char="•"/>
            </a:pPr>
            <a:r>
              <a:rPr lang="en-US" sz="3499" u="sng">
                <a:solidFill>
                  <a:srgbClr val="000000"/>
                </a:solidFill>
                <a:latin typeface="DG Jory"/>
                <a:ea typeface="DG Jory"/>
                <a:cs typeface="DG Jory"/>
                <a:sym typeface="DG Jory"/>
              </a:rPr>
              <a:t>Step 3)</a:t>
            </a:r>
          </a:p>
          <a:p>
            <a:pPr algn="l" marL="1381761" indent="-460587" lvl="2">
              <a:lnSpc>
                <a:spcPts val="4480"/>
              </a:lnSpc>
              <a:buFont typeface="Arial"/>
              <a:buChar char="⚬"/>
            </a:pPr>
            <a:r>
              <a:rPr lang="en-US" sz="3200">
                <a:solidFill>
                  <a:srgbClr val="000000"/>
                </a:solidFill>
                <a:latin typeface="DG Jory"/>
                <a:ea typeface="DG Jory"/>
                <a:cs typeface="DG Jory"/>
                <a:sym typeface="DG Jory"/>
              </a:rPr>
              <a:t>Potential Calculation: Each point’s closeness to all  other points </a:t>
            </a:r>
          </a:p>
          <a:p>
            <a:pPr algn="l">
              <a:lnSpc>
                <a:spcPts val="4480"/>
              </a:lnSpc>
            </a:pPr>
            <a:r>
              <a:rPr lang="en-US" sz="3200">
                <a:solidFill>
                  <a:srgbClr val="000000"/>
                </a:solidFill>
                <a:latin typeface="DG Jory"/>
                <a:ea typeface="DG Jory"/>
                <a:cs typeface="DG Jory"/>
                <a:sym typeface="DG Jory"/>
              </a:rPr>
              <a:t>                                                                                                                      where </a:t>
            </a:r>
          </a:p>
          <a:p>
            <a:pPr algn="l">
              <a:lnSpc>
                <a:spcPts val="4480"/>
              </a:lnSpc>
            </a:pPr>
          </a:p>
          <a:p>
            <a:pPr algn="l" marL="755651" indent="-377825" lvl="1">
              <a:lnSpc>
                <a:spcPts val="4900"/>
              </a:lnSpc>
              <a:buFont typeface="Arial"/>
              <a:buChar char="•"/>
            </a:pPr>
            <a:r>
              <a:rPr lang="en-US" sz="3500" u="sng">
                <a:solidFill>
                  <a:srgbClr val="000000"/>
                </a:solidFill>
                <a:latin typeface="DG Jory"/>
                <a:ea typeface="DG Jory"/>
                <a:cs typeface="DG Jory"/>
                <a:sym typeface="DG Jory"/>
              </a:rPr>
              <a:t>Step 4)</a:t>
            </a:r>
          </a:p>
          <a:p>
            <a:pPr algn="l" marL="1381761" indent="-460587" lvl="2">
              <a:lnSpc>
                <a:spcPts val="4480"/>
              </a:lnSpc>
              <a:buFont typeface="Arial"/>
              <a:buChar char="⚬"/>
            </a:pPr>
            <a:r>
              <a:rPr lang="en-US" sz="3200">
                <a:solidFill>
                  <a:srgbClr val="000000"/>
                </a:solidFill>
                <a:latin typeface="DG Jory"/>
                <a:ea typeface="DG Jory"/>
                <a:cs typeface="DG Jory"/>
                <a:sym typeface="DG Jory"/>
              </a:rPr>
              <a:t>Select Cluster Centre: Choosing point with highest potential</a:t>
            </a:r>
          </a:p>
          <a:p>
            <a:pPr algn="l">
              <a:lnSpc>
                <a:spcPts val="4480"/>
              </a:lnSpc>
            </a:pPr>
          </a:p>
          <a:p>
            <a:pPr algn="l">
              <a:lnSpc>
                <a:spcPts val="4480"/>
              </a:lnSpc>
            </a:pPr>
          </a:p>
          <a:p>
            <a:pPr algn="l">
              <a:lnSpc>
                <a:spcPts val="4480"/>
              </a:lnSpc>
            </a:pPr>
          </a:p>
        </p:txBody>
      </p:sp>
      <p:grpSp>
        <p:nvGrpSpPr>
          <p:cNvPr name="Group 12" id="12"/>
          <p:cNvGrpSpPr/>
          <p:nvPr/>
        </p:nvGrpSpPr>
        <p:grpSpPr>
          <a:xfrm rot="0">
            <a:off x="7076985" y="1989820"/>
            <a:ext cx="4882567" cy="851368"/>
            <a:chOff x="0" y="0"/>
            <a:chExt cx="1285944" cy="224229"/>
          </a:xfrm>
        </p:grpSpPr>
        <p:sp>
          <p:nvSpPr>
            <p:cNvPr name="Freeform 13" id="13"/>
            <p:cNvSpPr/>
            <p:nvPr/>
          </p:nvSpPr>
          <p:spPr>
            <a:xfrm flipH="false" flipV="false" rot="0">
              <a:off x="0" y="0"/>
              <a:ext cx="1285944" cy="224229"/>
            </a:xfrm>
            <a:custGeom>
              <a:avLst/>
              <a:gdLst/>
              <a:ahLst/>
              <a:cxnLst/>
              <a:rect r="r" b="b" t="t" l="l"/>
              <a:pathLst>
                <a:path h="224229" w="1285944">
                  <a:moveTo>
                    <a:pt x="0" y="0"/>
                  </a:moveTo>
                  <a:lnTo>
                    <a:pt x="1285944" y="0"/>
                  </a:lnTo>
                  <a:lnTo>
                    <a:pt x="1285944" y="224229"/>
                  </a:lnTo>
                  <a:lnTo>
                    <a:pt x="0" y="224229"/>
                  </a:lnTo>
                  <a:close/>
                </a:path>
              </a:pathLst>
            </a:custGeom>
            <a:solidFill>
              <a:srgbClr val="9BDAE9">
                <a:alpha val="49804"/>
              </a:srgbClr>
            </a:solidFill>
          </p:spPr>
        </p:sp>
        <p:sp>
          <p:nvSpPr>
            <p:cNvPr name="TextBox 14" id="14"/>
            <p:cNvSpPr txBox="true"/>
            <p:nvPr/>
          </p:nvSpPr>
          <p:spPr>
            <a:xfrm>
              <a:off x="0" y="-47625"/>
              <a:ext cx="1285944" cy="271854"/>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8303269" y="4802527"/>
            <a:ext cx="4791920" cy="1272854"/>
          </a:xfrm>
          <a:custGeom>
            <a:avLst/>
            <a:gdLst/>
            <a:ahLst/>
            <a:cxnLst/>
            <a:rect r="r" b="b" t="t" l="l"/>
            <a:pathLst>
              <a:path h="1272854" w="4791920">
                <a:moveTo>
                  <a:pt x="0" y="0"/>
                </a:moveTo>
                <a:lnTo>
                  <a:pt x="4791920" y="0"/>
                </a:lnTo>
                <a:lnTo>
                  <a:pt x="4791920" y="1272854"/>
                </a:lnTo>
                <a:lnTo>
                  <a:pt x="0" y="1272854"/>
                </a:lnTo>
                <a:lnTo>
                  <a:pt x="0" y="0"/>
                </a:lnTo>
                <a:close/>
              </a:path>
            </a:pathLst>
          </a:custGeom>
          <a:blipFill>
            <a:blip r:embed="rId4"/>
            <a:stretch>
              <a:fillRect l="0" t="0" r="0" b="0"/>
            </a:stretch>
          </a:blipFill>
        </p:spPr>
      </p:sp>
      <p:sp>
        <p:nvSpPr>
          <p:cNvPr name="Freeform 16" id="16"/>
          <p:cNvSpPr/>
          <p:nvPr/>
        </p:nvSpPr>
        <p:spPr>
          <a:xfrm flipH="false" flipV="false" rot="0">
            <a:off x="3406569" y="7034504"/>
            <a:ext cx="3670416" cy="995992"/>
          </a:xfrm>
          <a:custGeom>
            <a:avLst/>
            <a:gdLst/>
            <a:ahLst/>
            <a:cxnLst/>
            <a:rect r="r" b="b" t="t" l="l"/>
            <a:pathLst>
              <a:path h="995992" w="3670416">
                <a:moveTo>
                  <a:pt x="0" y="0"/>
                </a:moveTo>
                <a:lnTo>
                  <a:pt x="3670416" y="0"/>
                </a:lnTo>
                <a:lnTo>
                  <a:pt x="3670416" y="995992"/>
                </a:lnTo>
                <a:lnTo>
                  <a:pt x="0" y="995992"/>
                </a:lnTo>
                <a:lnTo>
                  <a:pt x="0" y="0"/>
                </a:lnTo>
                <a:close/>
              </a:path>
            </a:pathLst>
          </a:custGeom>
          <a:blipFill>
            <a:blip r:embed="rId5"/>
            <a:stretch>
              <a:fillRect l="0" t="0" r="0" b="0"/>
            </a:stretch>
          </a:blipFill>
        </p:spPr>
      </p:sp>
      <p:sp>
        <p:nvSpPr>
          <p:cNvPr name="Freeform 17" id="17"/>
          <p:cNvSpPr/>
          <p:nvPr/>
        </p:nvSpPr>
        <p:spPr>
          <a:xfrm flipH="false" flipV="false" rot="0">
            <a:off x="9215092" y="7034504"/>
            <a:ext cx="4411323" cy="673650"/>
          </a:xfrm>
          <a:custGeom>
            <a:avLst/>
            <a:gdLst/>
            <a:ahLst/>
            <a:cxnLst/>
            <a:rect r="r" b="b" t="t" l="l"/>
            <a:pathLst>
              <a:path h="673650" w="4411323">
                <a:moveTo>
                  <a:pt x="0" y="0"/>
                </a:moveTo>
                <a:lnTo>
                  <a:pt x="4411323" y="0"/>
                </a:lnTo>
                <a:lnTo>
                  <a:pt x="4411323" y="673650"/>
                </a:lnTo>
                <a:lnTo>
                  <a:pt x="0" y="673650"/>
                </a:lnTo>
                <a:lnTo>
                  <a:pt x="0" y="0"/>
                </a:lnTo>
                <a:close/>
              </a:path>
            </a:pathLst>
          </a:custGeom>
          <a:blipFill>
            <a:blip r:embed="rId6"/>
            <a:stretch>
              <a:fillRect l="0" t="0" r="0" b="0"/>
            </a:stretch>
          </a:blipFill>
        </p:spPr>
      </p:sp>
      <p:sp>
        <p:nvSpPr>
          <p:cNvPr name="Freeform 18" id="18"/>
          <p:cNvSpPr/>
          <p:nvPr/>
        </p:nvSpPr>
        <p:spPr>
          <a:xfrm flipH="false" flipV="false" rot="0">
            <a:off x="5241777" y="9258300"/>
            <a:ext cx="4177377" cy="587444"/>
          </a:xfrm>
          <a:custGeom>
            <a:avLst/>
            <a:gdLst/>
            <a:ahLst/>
            <a:cxnLst/>
            <a:rect r="r" b="b" t="t" l="l"/>
            <a:pathLst>
              <a:path h="587444" w="4177377">
                <a:moveTo>
                  <a:pt x="0" y="0"/>
                </a:moveTo>
                <a:lnTo>
                  <a:pt x="4177377" y="0"/>
                </a:lnTo>
                <a:lnTo>
                  <a:pt x="4177377" y="587444"/>
                </a:lnTo>
                <a:lnTo>
                  <a:pt x="0" y="587444"/>
                </a:lnTo>
                <a:lnTo>
                  <a:pt x="0" y="0"/>
                </a:lnTo>
                <a:close/>
              </a:path>
            </a:pathLst>
          </a:custGeom>
          <a:blipFill>
            <a:blip r:embed="rId7"/>
            <a:stretch>
              <a:fillRect l="0" t="0" r="0" b="0"/>
            </a:stretch>
          </a:blipFill>
        </p:spPr>
      </p:sp>
      <p:sp>
        <p:nvSpPr>
          <p:cNvPr name="TextBox 19" id="19"/>
          <p:cNvSpPr txBox="true"/>
          <p:nvPr/>
        </p:nvSpPr>
        <p:spPr>
          <a:xfrm rot="0">
            <a:off x="6184406" y="736521"/>
            <a:ext cx="6027748" cy="748614"/>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SOC-TECHNIQUE</a:t>
            </a:r>
          </a:p>
        </p:txBody>
      </p:sp>
      <p:sp>
        <p:nvSpPr>
          <p:cNvPr name="TextBox 20" id="20"/>
          <p:cNvSpPr txBox="true"/>
          <p:nvPr/>
        </p:nvSpPr>
        <p:spPr>
          <a:xfrm rot="0">
            <a:off x="7148077" y="2155889"/>
            <a:ext cx="4740383" cy="537845"/>
          </a:xfrm>
          <a:prstGeom prst="rect">
            <a:avLst/>
          </a:prstGeom>
        </p:spPr>
        <p:txBody>
          <a:bodyPr anchor="t" rtlCol="false" tIns="0" lIns="0" bIns="0" rIns="0">
            <a:spAutoFit/>
          </a:bodyPr>
          <a:lstStyle/>
          <a:p>
            <a:pPr algn="ctr">
              <a:lnSpc>
                <a:spcPts val="4479"/>
              </a:lnSpc>
            </a:pPr>
            <a:r>
              <a:rPr lang="en-US" sz="3199">
                <a:solidFill>
                  <a:srgbClr val="000000"/>
                </a:solidFill>
                <a:latin typeface="League Spartan"/>
                <a:ea typeface="League Spartan"/>
                <a:cs typeface="League Spartan"/>
                <a:sym typeface="League Spartan"/>
              </a:rPr>
              <a:t>ALGORITHM STEPS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3082137" y="-495020"/>
            <a:ext cx="9287959" cy="8409825"/>
          </a:xfrm>
          <a:custGeom>
            <a:avLst/>
            <a:gdLst/>
            <a:ahLst/>
            <a:cxnLst/>
            <a:rect r="r" b="b" t="t" l="l"/>
            <a:pathLst>
              <a:path h="8409825" w="9287959">
                <a:moveTo>
                  <a:pt x="9287960" y="8409824"/>
                </a:moveTo>
                <a:lnTo>
                  <a:pt x="0" y="8409824"/>
                </a:lnTo>
                <a:lnTo>
                  <a:pt x="0" y="0"/>
                </a:lnTo>
                <a:lnTo>
                  <a:pt x="9287960" y="0"/>
                </a:lnTo>
                <a:lnTo>
                  <a:pt x="9287960" y="840982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07933" y="8049787"/>
            <a:ext cx="7360133" cy="6664266"/>
          </a:xfrm>
          <a:custGeom>
            <a:avLst/>
            <a:gdLst/>
            <a:ahLst/>
            <a:cxnLst/>
            <a:rect r="r" b="b" t="t" l="l"/>
            <a:pathLst>
              <a:path h="6664266" w="7360133">
                <a:moveTo>
                  <a:pt x="0" y="0"/>
                </a:moveTo>
                <a:lnTo>
                  <a:pt x="7360134" y="0"/>
                </a:lnTo>
                <a:lnTo>
                  <a:pt x="7360134" y="6664267"/>
                </a:lnTo>
                <a:lnTo>
                  <a:pt x="0" y="6664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true" flipV="false" rot="0">
            <a:off x="8303269" y="8738243"/>
            <a:ext cx="7360133" cy="6664266"/>
          </a:xfrm>
          <a:custGeom>
            <a:avLst/>
            <a:gdLst/>
            <a:ahLst/>
            <a:cxnLst/>
            <a:rect r="r" b="b" t="t" l="l"/>
            <a:pathLst>
              <a:path h="6664266" w="7360133">
                <a:moveTo>
                  <a:pt x="7360133" y="0"/>
                </a:moveTo>
                <a:lnTo>
                  <a:pt x="0" y="0"/>
                </a:lnTo>
                <a:lnTo>
                  <a:pt x="0" y="6664266"/>
                </a:lnTo>
                <a:lnTo>
                  <a:pt x="7360133" y="6664266"/>
                </a:lnTo>
                <a:lnTo>
                  <a:pt x="7360133"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5" id="5"/>
          <p:cNvSpPr txBox="true"/>
          <p:nvPr/>
        </p:nvSpPr>
        <p:spPr>
          <a:xfrm rot="0">
            <a:off x="1028700" y="579108"/>
            <a:ext cx="16043880" cy="10440035"/>
          </a:xfrm>
          <a:prstGeom prst="rect">
            <a:avLst/>
          </a:prstGeom>
        </p:spPr>
        <p:txBody>
          <a:bodyPr anchor="t" rtlCol="false" tIns="0" lIns="0" bIns="0" rIns="0">
            <a:spAutoFit/>
          </a:bodyPr>
          <a:lstStyle/>
          <a:p>
            <a:pPr algn="l" marL="755649" indent="-377824" lvl="1">
              <a:lnSpc>
                <a:spcPts val="4899"/>
              </a:lnSpc>
              <a:buFont typeface="Arial"/>
              <a:buChar char="•"/>
            </a:pPr>
            <a:r>
              <a:rPr lang="en-US" sz="3499" u="sng">
                <a:solidFill>
                  <a:srgbClr val="000000"/>
                </a:solidFill>
                <a:latin typeface="DG Jory"/>
                <a:ea typeface="DG Jory"/>
                <a:cs typeface="DG Jory"/>
                <a:sym typeface="DG Jory"/>
              </a:rPr>
              <a:t>Step 5)</a:t>
            </a:r>
          </a:p>
          <a:p>
            <a:pPr algn="l" marL="1381761" indent="-460587" lvl="2">
              <a:lnSpc>
                <a:spcPts val="4480"/>
              </a:lnSpc>
              <a:buFont typeface="Arial"/>
              <a:buChar char="⚬"/>
            </a:pPr>
            <a:r>
              <a:rPr lang="en-US" sz="3200">
                <a:solidFill>
                  <a:srgbClr val="000000"/>
                </a:solidFill>
                <a:latin typeface="DG Jory"/>
                <a:ea typeface="DG Jory"/>
                <a:cs typeface="DG Jory"/>
                <a:sym typeface="DG Jory"/>
              </a:rPr>
              <a:t>Assign all points to</a:t>
            </a:r>
            <a:r>
              <a:rPr lang="en-US" sz="3200">
                <a:solidFill>
                  <a:srgbClr val="000000"/>
                </a:solidFill>
                <a:latin typeface="DG Jory"/>
                <a:ea typeface="DG Jory"/>
                <a:cs typeface="DG Jory"/>
                <a:sym typeface="DG Jory"/>
              </a:rPr>
              <a:t> cluster if their distance from centre is less than δm  </a:t>
            </a:r>
          </a:p>
          <a:p>
            <a:pPr algn="l">
              <a:lnSpc>
                <a:spcPts val="4480"/>
              </a:lnSpc>
            </a:pPr>
            <a:r>
              <a:rPr lang="en-US" sz="3200">
                <a:solidFill>
                  <a:srgbClr val="000000"/>
                </a:solidFill>
                <a:latin typeface="DG Jory"/>
                <a:ea typeface="DG Jory"/>
                <a:cs typeface="DG Jory"/>
                <a:sym typeface="DG Jory"/>
              </a:rPr>
              <a:t>                                            </a:t>
            </a:r>
          </a:p>
          <a:p>
            <a:pPr algn="l" marL="755649" indent="-377824" lvl="1">
              <a:lnSpc>
                <a:spcPts val="4899"/>
              </a:lnSpc>
              <a:buFont typeface="Arial"/>
              <a:buChar char="•"/>
            </a:pPr>
            <a:r>
              <a:rPr lang="en-US" sz="3499" u="sng">
                <a:solidFill>
                  <a:srgbClr val="000000"/>
                </a:solidFill>
                <a:latin typeface="DG Jory"/>
                <a:ea typeface="DG Jory"/>
                <a:cs typeface="DG Jory"/>
                <a:sym typeface="DG Jory"/>
              </a:rPr>
              <a:t>Step 6)</a:t>
            </a:r>
          </a:p>
          <a:p>
            <a:pPr algn="l" marL="1381761" indent="-460587" lvl="2">
              <a:lnSpc>
                <a:spcPts val="4480"/>
              </a:lnSpc>
              <a:buFont typeface="Arial"/>
              <a:buChar char="⚬"/>
            </a:pPr>
            <a:r>
              <a:rPr lang="en-US" sz="3200">
                <a:solidFill>
                  <a:srgbClr val="000000"/>
                </a:solidFill>
                <a:latin typeface="DG Jory"/>
                <a:ea typeface="DG Jory"/>
                <a:cs typeface="DG Jory"/>
                <a:sym typeface="DG Jory"/>
              </a:rPr>
              <a:t>Eliminate Assigned Points  </a:t>
            </a:r>
          </a:p>
          <a:p>
            <a:pPr algn="l" marL="755649" indent="-377824" lvl="1">
              <a:lnSpc>
                <a:spcPts val="4899"/>
              </a:lnSpc>
              <a:buFont typeface="Arial"/>
              <a:buChar char="•"/>
            </a:pPr>
            <a:r>
              <a:rPr lang="en-US" sz="3499" u="sng">
                <a:solidFill>
                  <a:srgbClr val="000000"/>
                </a:solidFill>
                <a:latin typeface="DG Jory"/>
                <a:ea typeface="DG Jory"/>
                <a:cs typeface="DG Jory"/>
                <a:sym typeface="DG Jory"/>
              </a:rPr>
              <a:t>Step 7-8)</a:t>
            </a:r>
          </a:p>
          <a:p>
            <a:pPr algn="l" marL="1381761" indent="-460587" lvl="2">
              <a:lnSpc>
                <a:spcPts val="4480"/>
              </a:lnSpc>
              <a:buFont typeface="Arial"/>
              <a:buChar char="⚬"/>
            </a:pPr>
            <a:r>
              <a:rPr lang="en-US" sz="3200">
                <a:solidFill>
                  <a:srgbClr val="000000"/>
                </a:solidFill>
                <a:latin typeface="DG Jory"/>
                <a:ea typeface="DG Jory"/>
                <a:cs typeface="DG Jory"/>
                <a:sym typeface="DG Jory"/>
              </a:rPr>
              <a:t>Repeating and distributing remaining points to nearest centers.</a:t>
            </a:r>
          </a:p>
          <a:p>
            <a:pPr algn="l" marL="755649" indent="-377824" lvl="1">
              <a:lnSpc>
                <a:spcPts val="4899"/>
              </a:lnSpc>
              <a:buFont typeface="Arial"/>
              <a:buChar char="•"/>
            </a:pPr>
            <a:r>
              <a:rPr lang="en-US" sz="3499" u="sng">
                <a:solidFill>
                  <a:srgbClr val="000000"/>
                </a:solidFill>
                <a:latin typeface="DG Jory"/>
                <a:ea typeface="DG Jory"/>
                <a:cs typeface="DG Jory"/>
                <a:sym typeface="DG Jory"/>
              </a:rPr>
              <a:t>Step 9)</a:t>
            </a:r>
          </a:p>
          <a:p>
            <a:pPr algn="l" marL="1381761" indent="-460587" lvl="2">
              <a:lnSpc>
                <a:spcPts val="4480"/>
              </a:lnSpc>
              <a:buFont typeface="Arial"/>
              <a:buChar char="⚬"/>
            </a:pPr>
            <a:r>
              <a:rPr lang="en-US" sz="3200">
                <a:solidFill>
                  <a:srgbClr val="000000"/>
                </a:solidFill>
                <a:latin typeface="DG Jory"/>
                <a:ea typeface="DG Jory"/>
                <a:cs typeface="DG Jory"/>
                <a:sym typeface="DG Jory"/>
              </a:rPr>
              <a:t>Calculating GSI</a:t>
            </a:r>
          </a:p>
          <a:p>
            <a:pPr algn="l">
              <a:lnSpc>
                <a:spcPts val="4480"/>
              </a:lnSpc>
            </a:pPr>
          </a:p>
          <a:p>
            <a:pPr algn="l" marL="755649" indent="-377824" lvl="1">
              <a:lnSpc>
                <a:spcPts val="4899"/>
              </a:lnSpc>
              <a:buFont typeface="Arial"/>
              <a:buChar char="•"/>
            </a:pPr>
            <a:r>
              <a:rPr lang="en-US" sz="3499" u="sng">
                <a:solidFill>
                  <a:srgbClr val="000000"/>
                </a:solidFill>
                <a:latin typeface="DG Jory"/>
                <a:ea typeface="DG Jory"/>
                <a:cs typeface="DG Jory"/>
                <a:sym typeface="DG Jory"/>
              </a:rPr>
              <a:t>Step 10-14)</a:t>
            </a:r>
            <a:r>
              <a:rPr lang="en-US" sz="3499" u="sng">
                <a:solidFill>
                  <a:srgbClr val="000000"/>
                </a:solidFill>
                <a:latin typeface="DG Jory"/>
                <a:ea typeface="DG Jory"/>
                <a:cs typeface="DG Jory"/>
                <a:sym typeface="DG Jory"/>
              </a:rPr>
              <a:t> </a:t>
            </a:r>
          </a:p>
          <a:p>
            <a:pPr algn="l" marL="1381761" indent="-460587" lvl="2">
              <a:lnSpc>
                <a:spcPts val="4480"/>
              </a:lnSpc>
              <a:buFont typeface="Arial"/>
              <a:buChar char="⚬"/>
            </a:pPr>
            <a:r>
              <a:rPr lang="en-US" sz="3200">
                <a:solidFill>
                  <a:srgbClr val="000000"/>
                </a:solidFill>
                <a:latin typeface="DG Jory"/>
                <a:ea typeface="DG Jory"/>
                <a:cs typeface="DG Jory"/>
                <a:sym typeface="DG Jory"/>
              </a:rPr>
              <a:t>Optimizing βm via Lagrange Interpolation</a:t>
            </a:r>
          </a:p>
          <a:p>
            <a:pPr algn="l">
              <a:lnSpc>
                <a:spcPts val="4480"/>
              </a:lnSpc>
            </a:pPr>
          </a:p>
          <a:p>
            <a:pPr algn="l">
              <a:lnSpc>
                <a:spcPts val="4480"/>
              </a:lnSpc>
            </a:pPr>
          </a:p>
          <a:p>
            <a:pPr algn="l" marL="755649" indent="-377824" lvl="1">
              <a:lnSpc>
                <a:spcPts val="4899"/>
              </a:lnSpc>
              <a:buFont typeface="Arial"/>
              <a:buChar char="•"/>
            </a:pPr>
            <a:r>
              <a:rPr lang="en-US" sz="3499" u="sng">
                <a:solidFill>
                  <a:srgbClr val="000000"/>
                </a:solidFill>
                <a:latin typeface="DG Jory"/>
                <a:ea typeface="DG Jory"/>
                <a:cs typeface="DG Jory"/>
                <a:sym typeface="DG Jory"/>
              </a:rPr>
              <a:t>Step 15)</a:t>
            </a:r>
          </a:p>
          <a:p>
            <a:pPr algn="l" marL="1381761" indent="-460587" lvl="2">
              <a:lnSpc>
                <a:spcPts val="4480"/>
              </a:lnSpc>
              <a:buFont typeface="Arial"/>
              <a:buChar char="⚬"/>
            </a:pPr>
            <a:r>
              <a:rPr lang="en-US" sz="3200">
                <a:solidFill>
                  <a:srgbClr val="000000"/>
                </a:solidFill>
                <a:latin typeface="DG Jory"/>
                <a:ea typeface="DG Jory"/>
                <a:cs typeface="DG Jory"/>
                <a:sym typeface="DG Jory"/>
              </a:rPr>
              <a:t>Repeat steps 2-14 for 10 iterations or until δm converges</a:t>
            </a:r>
          </a:p>
          <a:p>
            <a:pPr algn="l">
              <a:lnSpc>
                <a:spcPts val="4480"/>
              </a:lnSpc>
            </a:pPr>
          </a:p>
          <a:p>
            <a:pPr algn="l">
              <a:lnSpc>
                <a:spcPts val="4480"/>
              </a:lnSpc>
            </a:pPr>
          </a:p>
        </p:txBody>
      </p:sp>
      <p:sp>
        <p:nvSpPr>
          <p:cNvPr name="Freeform 6" id="6"/>
          <p:cNvSpPr/>
          <p:nvPr/>
        </p:nvSpPr>
        <p:spPr>
          <a:xfrm flipH="false" flipV="false" rot="0">
            <a:off x="5436102" y="1780627"/>
            <a:ext cx="5186773" cy="517061"/>
          </a:xfrm>
          <a:custGeom>
            <a:avLst/>
            <a:gdLst/>
            <a:ahLst/>
            <a:cxnLst/>
            <a:rect r="r" b="b" t="t" l="l"/>
            <a:pathLst>
              <a:path h="517061" w="5186773">
                <a:moveTo>
                  <a:pt x="0" y="0"/>
                </a:moveTo>
                <a:lnTo>
                  <a:pt x="5186773" y="0"/>
                </a:lnTo>
                <a:lnTo>
                  <a:pt x="5186773" y="517061"/>
                </a:lnTo>
                <a:lnTo>
                  <a:pt x="0" y="517061"/>
                </a:lnTo>
                <a:lnTo>
                  <a:pt x="0" y="0"/>
                </a:lnTo>
                <a:close/>
              </a:path>
            </a:pathLst>
          </a:custGeom>
          <a:blipFill>
            <a:blip r:embed="rId4"/>
            <a:stretch>
              <a:fillRect l="0" t="0" r="0" b="0"/>
            </a:stretch>
          </a:blipFill>
        </p:spPr>
      </p:sp>
      <p:sp>
        <p:nvSpPr>
          <p:cNvPr name="Freeform 7" id="7"/>
          <p:cNvSpPr/>
          <p:nvPr/>
        </p:nvSpPr>
        <p:spPr>
          <a:xfrm flipH="false" flipV="false" rot="0">
            <a:off x="5270475" y="5122148"/>
            <a:ext cx="4925965" cy="853190"/>
          </a:xfrm>
          <a:custGeom>
            <a:avLst/>
            <a:gdLst/>
            <a:ahLst/>
            <a:cxnLst/>
            <a:rect r="r" b="b" t="t" l="l"/>
            <a:pathLst>
              <a:path h="853190" w="4925965">
                <a:moveTo>
                  <a:pt x="0" y="0"/>
                </a:moveTo>
                <a:lnTo>
                  <a:pt x="4925965" y="0"/>
                </a:lnTo>
                <a:lnTo>
                  <a:pt x="4925965" y="853190"/>
                </a:lnTo>
                <a:lnTo>
                  <a:pt x="0" y="853190"/>
                </a:lnTo>
                <a:lnTo>
                  <a:pt x="0" y="0"/>
                </a:lnTo>
                <a:close/>
              </a:path>
            </a:pathLst>
          </a:custGeom>
          <a:blipFill>
            <a:blip r:embed="rId5"/>
            <a:stretch>
              <a:fillRect l="0" t="0" r="0" b="0"/>
            </a:stretch>
          </a:blipFill>
        </p:spPr>
      </p:sp>
      <p:sp>
        <p:nvSpPr>
          <p:cNvPr name="Freeform 8" id="8"/>
          <p:cNvSpPr/>
          <p:nvPr/>
        </p:nvSpPr>
        <p:spPr>
          <a:xfrm flipH="false" flipV="false" rot="0">
            <a:off x="10594300" y="5050413"/>
            <a:ext cx="2459263" cy="983705"/>
          </a:xfrm>
          <a:custGeom>
            <a:avLst/>
            <a:gdLst/>
            <a:ahLst/>
            <a:cxnLst/>
            <a:rect r="r" b="b" t="t" l="l"/>
            <a:pathLst>
              <a:path h="983705" w="2459263">
                <a:moveTo>
                  <a:pt x="0" y="0"/>
                </a:moveTo>
                <a:lnTo>
                  <a:pt x="2459262" y="0"/>
                </a:lnTo>
                <a:lnTo>
                  <a:pt x="2459262" y="983705"/>
                </a:lnTo>
                <a:lnTo>
                  <a:pt x="0" y="983705"/>
                </a:lnTo>
                <a:lnTo>
                  <a:pt x="0" y="0"/>
                </a:lnTo>
                <a:close/>
              </a:path>
            </a:pathLst>
          </a:custGeom>
          <a:blipFill>
            <a:blip r:embed="rId6"/>
            <a:stretch>
              <a:fillRect l="0" t="0" r="0" b="0"/>
            </a:stretch>
          </a:blipFill>
        </p:spPr>
      </p:sp>
      <p:sp>
        <p:nvSpPr>
          <p:cNvPr name="Freeform 9" id="9"/>
          <p:cNvSpPr/>
          <p:nvPr/>
        </p:nvSpPr>
        <p:spPr>
          <a:xfrm flipH="false" flipV="false" rot="0">
            <a:off x="13325838" y="5023468"/>
            <a:ext cx="2442339" cy="1037595"/>
          </a:xfrm>
          <a:custGeom>
            <a:avLst/>
            <a:gdLst/>
            <a:ahLst/>
            <a:cxnLst/>
            <a:rect r="r" b="b" t="t" l="l"/>
            <a:pathLst>
              <a:path h="1037595" w="2442339">
                <a:moveTo>
                  <a:pt x="0" y="0"/>
                </a:moveTo>
                <a:lnTo>
                  <a:pt x="2442339" y="0"/>
                </a:lnTo>
                <a:lnTo>
                  <a:pt x="2442339" y="1037595"/>
                </a:lnTo>
                <a:lnTo>
                  <a:pt x="0" y="1037595"/>
                </a:lnTo>
                <a:lnTo>
                  <a:pt x="0" y="0"/>
                </a:lnTo>
                <a:close/>
              </a:path>
            </a:pathLst>
          </a:custGeom>
          <a:blipFill>
            <a:blip r:embed="rId7"/>
            <a:stretch>
              <a:fillRect l="0" t="0" r="0" b="0"/>
            </a:stretch>
          </a:blipFill>
        </p:spPr>
      </p:sp>
      <p:sp>
        <p:nvSpPr>
          <p:cNvPr name="Freeform 10" id="10"/>
          <p:cNvSpPr/>
          <p:nvPr/>
        </p:nvSpPr>
        <p:spPr>
          <a:xfrm flipH="false" flipV="false" rot="0">
            <a:off x="3943985" y="7561600"/>
            <a:ext cx="2580751" cy="1090675"/>
          </a:xfrm>
          <a:custGeom>
            <a:avLst/>
            <a:gdLst/>
            <a:ahLst/>
            <a:cxnLst/>
            <a:rect r="r" b="b" t="t" l="l"/>
            <a:pathLst>
              <a:path h="1090675" w="2580751">
                <a:moveTo>
                  <a:pt x="0" y="0"/>
                </a:moveTo>
                <a:lnTo>
                  <a:pt x="2580751" y="0"/>
                </a:lnTo>
                <a:lnTo>
                  <a:pt x="2580751" y="1090675"/>
                </a:lnTo>
                <a:lnTo>
                  <a:pt x="0" y="1090675"/>
                </a:lnTo>
                <a:lnTo>
                  <a:pt x="0" y="0"/>
                </a:lnTo>
                <a:close/>
              </a:path>
            </a:pathLst>
          </a:custGeom>
          <a:blipFill>
            <a:blip r:embed="rId8"/>
            <a:stretch>
              <a:fillRect l="0" t="0" r="0" b="0"/>
            </a:stretch>
          </a:blipFill>
        </p:spPr>
      </p:sp>
      <p:sp>
        <p:nvSpPr>
          <p:cNvPr name="Freeform 11" id="11"/>
          <p:cNvSpPr/>
          <p:nvPr/>
        </p:nvSpPr>
        <p:spPr>
          <a:xfrm flipH="false" flipV="false" rot="0">
            <a:off x="7196724" y="7547655"/>
            <a:ext cx="4339858" cy="1004265"/>
          </a:xfrm>
          <a:custGeom>
            <a:avLst/>
            <a:gdLst/>
            <a:ahLst/>
            <a:cxnLst/>
            <a:rect r="r" b="b" t="t" l="l"/>
            <a:pathLst>
              <a:path h="1004265" w="4339858">
                <a:moveTo>
                  <a:pt x="0" y="0"/>
                </a:moveTo>
                <a:lnTo>
                  <a:pt x="4339858" y="0"/>
                </a:lnTo>
                <a:lnTo>
                  <a:pt x="4339858" y="1004265"/>
                </a:lnTo>
                <a:lnTo>
                  <a:pt x="0" y="1004265"/>
                </a:lnTo>
                <a:lnTo>
                  <a:pt x="0" y="0"/>
                </a:lnTo>
                <a:close/>
              </a:path>
            </a:pathLst>
          </a:custGeom>
          <a:blipFill>
            <a:blip r:embed="rId9"/>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513157" y="142035"/>
            <a:ext cx="5232865" cy="1773330"/>
            <a:chOff x="0" y="0"/>
            <a:chExt cx="6977154" cy="2364440"/>
          </a:xfrm>
        </p:grpSpPr>
        <p:grpSp>
          <p:nvGrpSpPr>
            <p:cNvPr name="Group 3" id="3"/>
            <p:cNvGrpSpPr/>
            <p:nvPr/>
          </p:nvGrpSpPr>
          <p:grpSpPr>
            <a:xfrm rot="0">
              <a:off x="0" y="0"/>
              <a:ext cx="6977154" cy="2364429"/>
              <a:chOff x="0" y="0"/>
              <a:chExt cx="2398478" cy="812800"/>
            </a:xfrm>
          </p:grpSpPr>
          <p:sp>
            <p:nvSpPr>
              <p:cNvPr name="Freeform 4" id="4"/>
              <p:cNvSpPr/>
              <p:nvPr/>
            </p:nvSpPr>
            <p:spPr>
              <a:xfrm flipH="false" flipV="false" rot="0">
                <a:off x="0" y="0"/>
                <a:ext cx="2398478" cy="812800"/>
              </a:xfrm>
              <a:custGeom>
                <a:avLst/>
                <a:gdLst/>
                <a:ahLst/>
                <a:cxnLst/>
                <a:rect r="r" b="b" t="t" l="l"/>
                <a:pathLst>
                  <a:path h="812800" w="2398478">
                    <a:moveTo>
                      <a:pt x="2398478" y="0"/>
                    </a:moveTo>
                    <a:lnTo>
                      <a:pt x="0" y="0"/>
                    </a:lnTo>
                    <a:lnTo>
                      <a:pt x="0" y="624840"/>
                    </a:lnTo>
                    <a:lnTo>
                      <a:pt x="157480" y="624840"/>
                    </a:lnTo>
                    <a:lnTo>
                      <a:pt x="157480" y="812800"/>
                    </a:lnTo>
                    <a:lnTo>
                      <a:pt x="463550" y="624840"/>
                    </a:lnTo>
                    <a:lnTo>
                      <a:pt x="2398478" y="624840"/>
                    </a:lnTo>
                    <a:lnTo>
                      <a:pt x="2398478" y="0"/>
                    </a:lnTo>
                    <a:close/>
                  </a:path>
                </a:pathLst>
              </a:custGeom>
              <a:solidFill>
                <a:srgbClr val="9BDAE9"/>
              </a:solidFill>
              <a:ln cap="sq">
                <a:noFill/>
                <a:prstDash val="solid"/>
                <a:miter/>
              </a:ln>
            </p:spPr>
          </p:sp>
          <p:sp>
            <p:nvSpPr>
              <p:cNvPr name="TextBox 5" id="5"/>
              <p:cNvSpPr txBox="true"/>
              <p:nvPr/>
            </p:nvSpPr>
            <p:spPr>
              <a:xfrm>
                <a:off x="0" y="-47625"/>
                <a:ext cx="2398478" cy="66992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0" y="11"/>
              <a:ext cx="6977154" cy="2364429"/>
              <a:chOff x="0" y="0"/>
              <a:chExt cx="2398478" cy="812800"/>
            </a:xfrm>
          </p:grpSpPr>
          <p:sp>
            <p:nvSpPr>
              <p:cNvPr name="Freeform 7" id="7"/>
              <p:cNvSpPr/>
              <p:nvPr/>
            </p:nvSpPr>
            <p:spPr>
              <a:xfrm flipH="false" flipV="false" rot="0">
                <a:off x="0" y="0"/>
                <a:ext cx="2398478" cy="812800"/>
              </a:xfrm>
              <a:custGeom>
                <a:avLst/>
                <a:gdLst/>
                <a:ahLst/>
                <a:cxnLst/>
                <a:rect r="r" b="b" t="t" l="l"/>
                <a:pathLst>
                  <a:path h="812800" w="2398478">
                    <a:moveTo>
                      <a:pt x="2398478" y="0"/>
                    </a:moveTo>
                    <a:lnTo>
                      <a:pt x="0" y="0"/>
                    </a:lnTo>
                    <a:lnTo>
                      <a:pt x="0" y="624840"/>
                    </a:lnTo>
                    <a:lnTo>
                      <a:pt x="157480" y="624840"/>
                    </a:lnTo>
                    <a:lnTo>
                      <a:pt x="157480" y="812800"/>
                    </a:lnTo>
                    <a:lnTo>
                      <a:pt x="463550" y="624840"/>
                    </a:lnTo>
                    <a:lnTo>
                      <a:pt x="2398478" y="624840"/>
                    </a:lnTo>
                    <a:lnTo>
                      <a:pt x="2398478" y="0"/>
                    </a:lnTo>
                    <a:close/>
                  </a:path>
                </a:pathLst>
              </a:custGeom>
              <a:solidFill>
                <a:srgbClr val="000000">
                  <a:alpha val="0"/>
                </a:srgbClr>
              </a:solidFill>
              <a:ln w="66675" cap="sq">
                <a:solidFill>
                  <a:srgbClr val="56C3D0"/>
                </a:solidFill>
                <a:prstDash val="solid"/>
                <a:miter/>
              </a:ln>
            </p:spPr>
          </p:sp>
          <p:sp>
            <p:nvSpPr>
              <p:cNvPr name="TextBox 8" id="8"/>
              <p:cNvSpPr txBox="true"/>
              <p:nvPr/>
            </p:nvSpPr>
            <p:spPr>
              <a:xfrm>
                <a:off x="0" y="-47625"/>
                <a:ext cx="2398478" cy="66992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88624" y="342585"/>
              <a:ext cx="6642731" cy="1006062"/>
            </a:xfrm>
            <a:prstGeom prst="rect">
              <a:avLst/>
            </a:prstGeom>
          </p:spPr>
          <p:txBody>
            <a:bodyPr anchor="t" rtlCol="false" tIns="0" lIns="0" bIns="0" rIns="0">
              <a:spAutoFit/>
            </a:bodyPr>
            <a:lstStyle/>
            <a:p>
              <a:pPr algn="ctr">
                <a:lnSpc>
                  <a:spcPts val="5963"/>
                </a:lnSpc>
              </a:pPr>
              <a:r>
                <a:rPr lang="en-US" sz="4969">
                  <a:solidFill>
                    <a:srgbClr val="000000"/>
                  </a:solidFill>
                  <a:latin typeface="League Spartan"/>
                  <a:ea typeface="League Spartan"/>
                  <a:cs typeface="League Spartan"/>
                  <a:sym typeface="League Spartan"/>
                </a:rPr>
                <a:t> COMPARISON</a:t>
              </a:r>
            </a:p>
          </p:txBody>
        </p:sp>
      </p:grpSp>
      <p:sp>
        <p:nvSpPr>
          <p:cNvPr name="Freeform 10" id="10"/>
          <p:cNvSpPr/>
          <p:nvPr/>
        </p:nvSpPr>
        <p:spPr>
          <a:xfrm flipH="false" flipV="false" rot="0">
            <a:off x="222124" y="4696066"/>
            <a:ext cx="5431107" cy="3333342"/>
          </a:xfrm>
          <a:custGeom>
            <a:avLst/>
            <a:gdLst/>
            <a:ahLst/>
            <a:cxnLst/>
            <a:rect r="r" b="b" t="t" l="l"/>
            <a:pathLst>
              <a:path h="3333342" w="5431107">
                <a:moveTo>
                  <a:pt x="0" y="0"/>
                </a:moveTo>
                <a:lnTo>
                  <a:pt x="5431107" y="0"/>
                </a:lnTo>
                <a:lnTo>
                  <a:pt x="5431107" y="3333342"/>
                </a:lnTo>
                <a:lnTo>
                  <a:pt x="0" y="3333342"/>
                </a:lnTo>
                <a:lnTo>
                  <a:pt x="0" y="0"/>
                </a:lnTo>
                <a:close/>
              </a:path>
            </a:pathLst>
          </a:custGeom>
          <a:blipFill>
            <a:blip r:embed="rId2"/>
            <a:stretch>
              <a:fillRect l="0" t="0" r="0" b="0"/>
            </a:stretch>
          </a:blipFill>
        </p:spPr>
      </p:sp>
      <p:sp>
        <p:nvSpPr>
          <p:cNvPr name="Freeform 11" id="11"/>
          <p:cNvSpPr/>
          <p:nvPr/>
        </p:nvSpPr>
        <p:spPr>
          <a:xfrm flipH="false" flipV="false" rot="0">
            <a:off x="6262831" y="4410316"/>
            <a:ext cx="5582886" cy="3440454"/>
          </a:xfrm>
          <a:custGeom>
            <a:avLst/>
            <a:gdLst/>
            <a:ahLst/>
            <a:cxnLst/>
            <a:rect r="r" b="b" t="t" l="l"/>
            <a:pathLst>
              <a:path h="3440454" w="5582886">
                <a:moveTo>
                  <a:pt x="0" y="0"/>
                </a:moveTo>
                <a:lnTo>
                  <a:pt x="5582886" y="0"/>
                </a:lnTo>
                <a:lnTo>
                  <a:pt x="5582886" y="3440454"/>
                </a:lnTo>
                <a:lnTo>
                  <a:pt x="0" y="3440454"/>
                </a:lnTo>
                <a:lnTo>
                  <a:pt x="0" y="0"/>
                </a:lnTo>
                <a:close/>
              </a:path>
            </a:pathLst>
          </a:custGeom>
          <a:blipFill>
            <a:blip r:embed="rId3"/>
            <a:stretch>
              <a:fillRect l="0" t="0" r="0" b="0"/>
            </a:stretch>
          </a:blipFill>
        </p:spPr>
      </p:sp>
      <p:sp>
        <p:nvSpPr>
          <p:cNvPr name="Freeform 12" id="12"/>
          <p:cNvSpPr/>
          <p:nvPr/>
        </p:nvSpPr>
        <p:spPr>
          <a:xfrm flipH="false" flipV="false" rot="0">
            <a:off x="12455317" y="4629391"/>
            <a:ext cx="5387151" cy="3279428"/>
          </a:xfrm>
          <a:custGeom>
            <a:avLst/>
            <a:gdLst/>
            <a:ahLst/>
            <a:cxnLst/>
            <a:rect r="r" b="b" t="t" l="l"/>
            <a:pathLst>
              <a:path h="3279428" w="5387151">
                <a:moveTo>
                  <a:pt x="0" y="0"/>
                </a:moveTo>
                <a:lnTo>
                  <a:pt x="5387152" y="0"/>
                </a:lnTo>
                <a:lnTo>
                  <a:pt x="5387152" y="3279429"/>
                </a:lnTo>
                <a:lnTo>
                  <a:pt x="0" y="3279429"/>
                </a:lnTo>
                <a:lnTo>
                  <a:pt x="0" y="0"/>
                </a:lnTo>
                <a:close/>
              </a:path>
            </a:pathLst>
          </a:custGeom>
          <a:blipFill>
            <a:blip r:embed="rId4"/>
            <a:stretch>
              <a:fillRect l="0" t="0" r="0" b="0"/>
            </a:stretch>
          </a:blipFill>
        </p:spPr>
      </p:sp>
      <p:grpSp>
        <p:nvGrpSpPr>
          <p:cNvPr name="Group 13" id="13"/>
          <p:cNvGrpSpPr/>
          <p:nvPr/>
        </p:nvGrpSpPr>
        <p:grpSpPr>
          <a:xfrm rot="0">
            <a:off x="12742186" y="8111490"/>
            <a:ext cx="5045800" cy="2175510"/>
            <a:chOff x="0" y="0"/>
            <a:chExt cx="6727734" cy="2900680"/>
          </a:xfrm>
        </p:grpSpPr>
        <p:sp>
          <p:nvSpPr>
            <p:cNvPr name="TextBox 14" id="14"/>
            <p:cNvSpPr txBox="true"/>
            <p:nvPr/>
          </p:nvSpPr>
          <p:spPr>
            <a:xfrm rot="0">
              <a:off x="164324" y="-47625"/>
              <a:ext cx="6563409" cy="2948305"/>
            </a:xfrm>
            <a:prstGeom prst="rect">
              <a:avLst/>
            </a:prstGeom>
          </p:spPr>
          <p:txBody>
            <a:bodyPr anchor="t" rtlCol="false" tIns="0" lIns="0" bIns="0" rIns="0">
              <a:spAutoFit/>
            </a:bodyPr>
            <a:lstStyle/>
            <a:p>
              <a:pPr algn="ctr">
                <a:lnSpc>
                  <a:spcPts val="2939"/>
                </a:lnSpc>
                <a:spcBef>
                  <a:spcPct val="0"/>
                </a:spcBef>
              </a:pPr>
              <a:r>
                <a:rPr lang="en-US" sz="2099">
                  <a:solidFill>
                    <a:srgbClr val="000000"/>
                  </a:solidFill>
                  <a:latin typeface="DG Jory"/>
                  <a:ea typeface="DG Jory"/>
                  <a:cs typeface="DG Jory"/>
                  <a:sym typeface="DG Jory"/>
                </a:rPr>
                <a:t>All methods gave alm</a:t>
              </a:r>
              <a:r>
                <a:rPr lang="en-US" sz="2099">
                  <a:solidFill>
                    <a:srgbClr val="000000"/>
                  </a:solidFill>
                  <a:latin typeface="DG Jory"/>
                  <a:ea typeface="DG Jory"/>
                  <a:cs typeface="DG Jory"/>
                  <a:sym typeface="DG Jory"/>
                </a:rPr>
                <a:t>ost the same results in this case, with SOC, IMC versions, K-means, and FCM all reaching high GSI around 0.8988. The clustering was equally good across methods, with low PI and well-separated clusters.</a:t>
              </a:r>
            </a:p>
          </p:txBody>
        </p:sp>
        <p:sp>
          <p:nvSpPr>
            <p:cNvPr name="Freeform 15" id="15"/>
            <p:cNvSpPr/>
            <p:nvPr/>
          </p:nvSpPr>
          <p:spPr>
            <a:xfrm flipH="false" flipV="false" rot="0">
              <a:off x="0" y="0"/>
              <a:ext cx="328648" cy="334977"/>
            </a:xfrm>
            <a:custGeom>
              <a:avLst/>
              <a:gdLst/>
              <a:ahLst/>
              <a:cxnLst/>
              <a:rect r="r" b="b" t="t" l="l"/>
              <a:pathLst>
                <a:path h="334977" w="328648">
                  <a:moveTo>
                    <a:pt x="0" y="0"/>
                  </a:moveTo>
                  <a:lnTo>
                    <a:pt x="328648" y="0"/>
                  </a:lnTo>
                  <a:lnTo>
                    <a:pt x="328648" y="334977"/>
                  </a:lnTo>
                  <a:lnTo>
                    <a:pt x="0" y="334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16" id="16"/>
          <p:cNvSpPr/>
          <p:nvPr/>
        </p:nvSpPr>
        <p:spPr>
          <a:xfrm flipH="false" flipV="false" rot="0">
            <a:off x="253266" y="2597311"/>
            <a:ext cx="4291136" cy="1813005"/>
          </a:xfrm>
          <a:custGeom>
            <a:avLst/>
            <a:gdLst/>
            <a:ahLst/>
            <a:cxnLst/>
            <a:rect r="r" b="b" t="t" l="l"/>
            <a:pathLst>
              <a:path h="1813005" w="4291136">
                <a:moveTo>
                  <a:pt x="0" y="0"/>
                </a:moveTo>
                <a:lnTo>
                  <a:pt x="4291137" y="0"/>
                </a:lnTo>
                <a:lnTo>
                  <a:pt x="4291137" y="1813005"/>
                </a:lnTo>
                <a:lnTo>
                  <a:pt x="0" y="1813005"/>
                </a:lnTo>
                <a:lnTo>
                  <a:pt x="0" y="0"/>
                </a:lnTo>
                <a:close/>
              </a:path>
            </a:pathLst>
          </a:custGeom>
          <a:blipFill>
            <a:blip r:embed="rId7"/>
            <a:stretch>
              <a:fillRect l="0" t="0" r="0" b="0"/>
            </a:stretch>
          </a:blipFill>
        </p:spPr>
      </p:sp>
      <p:sp>
        <p:nvSpPr>
          <p:cNvPr name="Freeform 17" id="17"/>
          <p:cNvSpPr/>
          <p:nvPr/>
        </p:nvSpPr>
        <p:spPr>
          <a:xfrm flipH="false" flipV="false" rot="0">
            <a:off x="6698663" y="2311431"/>
            <a:ext cx="4711223" cy="1990492"/>
          </a:xfrm>
          <a:custGeom>
            <a:avLst/>
            <a:gdLst/>
            <a:ahLst/>
            <a:cxnLst/>
            <a:rect r="r" b="b" t="t" l="l"/>
            <a:pathLst>
              <a:path h="1990492" w="4711223">
                <a:moveTo>
                  <a:pt x="0" y="0"/>
                </a:moveTo>
                <a:lnTo>
                  <a:pt x="4711223" y="0"/>
                </a:lnTo>
                <a:lnTo>
                  <a:pt x="4711223" y="1990492"/>
                </a:lnTo>
                <a:lnTo>
                  <a:pt x="0" y="1990492"/>
                </a:lnTo>
                <a:lnTo>
                  <a:pt x="0" y="0"/>
                </a:lnTo>
                <a:close/>
              </a:path>
            </a:pathLst>
          </a:custGeom>
          <a:blipFill>
            <a:blip r:embed="rId8"/>
            <a:stretch>
              <a:fillRect l="0" t="0" r="0" b="0"/>
            </a:stretch>
          </a:blipFill>
        </p:spPr>
      </p:sp>
      <p:sp>
        <p:nvSpPr>
          <p:cNvPr name="Freeform 18" id="18"/>
          <p:cNvSpPr/>
          <p:nvPr/>
        </p:nvSpPr>
        <p:spPr>
          <a:xfrm flipH="false" flipV="false" rot="0">
            <a:off x="12857266" y="2206983"/>
            <a:ext cx="4402034" cy="2289058"/>
          </a:xfrm>
          <a:custGeom>
            <a:avLst/>
            <a:gdLst/>
            <a:ahLst/>
            <a:cxnLst/>
            <a:rect r="r" b="b" t="t" l="l"/>
            <a:pathLst>
              <a:path h="2289058" w="4402034">
                <a:moveTo>
                  <a:pt x="0" y="0"/>
                </a:moveTo>
                <a:lnTo>
                  <a:pt x="4402034" y="0"/>
                </a:lnTo>
                <a:lnTo>
                  <a:pt x="4402034" y="2289058"/>
                </a:lnTo>
                <a:lnTo>
                  <a:pt x="0" y="2289058"/>
                </a:lnTo>
                <a:lnTo>
                  <a:pt x="0" y="0"/>
                </a:lnTo>
                <a:close/>
              </a:path>
            </a:pathLst>
          </a:custGeom>
          <a:blipFill>
            <a:blip r:embed="rId9"/>
            <a:stretch>
              <a:fillRect l="0" t="0" r="0" b="0"/>
            </a:stretch>
          </a:blipFill>
        </p:spPr>
      </p:sp>
      <p:grpSp>
        <p:nvGrpSpPr>
          <p:cNvPr name="Group 19" id="19"/>
          <p:cNvGrpSpPr/>
          <p:nvPr/>
        </p:nvGrpSpPr>
        <p:grpSpPr>
          <a:xfrm rot="0">
            <a:off x="253266" y="8297694"/>
            <a:ext cx="4421160" cy="1803101"/>
            <a:chOff x="0" y="0"/>
            <a:chExt cx="5894880" cy="2404135"/>
          </a:xfrm>
        </p:grpSpPr>
        <p:sp>
          <p:nvSpPr>
            <p:cNvPr name="Freeform 20" id="20"/>
            <p:cNvSpPr/>
            <p:nvPr/>
          </p:nvSpPr>
          <p:spPr>
            <a:xfrm flipH="false" flipV="false" rot="0">
              <a:off x="0" y="0"/>
              <a:ext cx="328648" cy="334977"/>
            </a:xfrm>
            <a:custGeom>
              <a:avLst/>
              <a:gdLst/>
              <a:ahLst/>
              <a:cxnLst/>
              <a:rect r="r" b="b" t="t" l="l"/>
              <a:pathLst>
                <a:path h="334977" w="328648">
                  <a:moveTo>
                    <a:pt x="0" y="0"/>
                  </a:moveTo>
                  <a:lnTo>
                    <a:pt x="328648" y="0"/>
                  </a:lnTo>
                  <a:lnTo>
                    <a:pt x="328648" y="334977"/>
                  </a:lnTo>
                  <a:lnTo>
                    <a:pt x="0" y="334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1" id="21"/>
            <p:cNvSpPr txBox="true"/>
            <p:nvPr/>
          </p:nvSpPr>
          <p:spPr>
            <a:xfrm rot="0">
              <a:off x="164324" y="-47625"/>
              <a:ext cx="5730555" cy="2451760"/>
            </a:xfrm>
            <a:prstGeom prst="rect">
              <a:avLst/>
            </a:prstGeom>
          </p:spPr>
          <p:txBody>
            <a:bodyPr anchor="t" rtlCol="false" tIns="0" lIns="0" bIns="0" rIns="0">
              <a:spAutoFit/>
            </a:bodyPr>
            <a:lstStyle/>
            <a:p>
              <a:pPr algn="ctr">
                <a:lnSpc>
                  <a:spcPts val="2991"/>
                </a:lnSpc>
                <a:spcBef>
                  <a:spcPct val="0"/>
                </a:spcBef>
              </a:pPr>
              <a:r>
                <a:rPr lang="en-US" sz="2136">
                  <a:solidFill>
                    <a:srgbClr val="000000"/>
                  </a:solidFill>
                  <a:latin typeface="DG Jory"/>
                  <a:ea typeface="DG Jory"/>
                  <a:cs typeface="DG Jory"/>
                  <a:sym typeface="DG Jory"/>
                </a:rPr>
                <a:t>IMC-max gave the best results with high GSI and DI and</a:t>
              </a:r>
              <a:r>
                <a:rPr lang="en-US" sz="2136">
                  <a:solidFill>
                    <a:srgbClr val="000000"/>
                  </a:solidFill>
                  <a:latin typeface="DG Jory"/>
                  <a:ea typeface="DG Jory"/>
                  <a:cs typeface="DG Jory"/>
                  <a:sym typeface="DG Jory"/>
                </a:rPr>
                <a:t> low PI, while SOC also performed well with balanced values, but EM gave the worst results with low GSI and very high SI.</a:t>
              </a:r>
            </a:p>
          </p:txBody>
        </p:sp>
      </p:grpSp>
      <p:grpSp>
        <p:nvGrpSpPr>
          <p:cNvPr name="Group 22" id="22"/>
          <p:cNvGrpSpPr/>
          <p:nvPr/>
        </p:nvGrpSpPr>
        <p:grpSpPr>
          <a:xfrm rot="0">
            <a:off x="6918589" y="7991099"/>
            <a:ext cx="4640068" cy="2175510"/>
            <a:chOff x="0" y="0"/>
            <a:chExt cx="6186757" cy="2900680"/>
          </a:xfrm>
        </p:grpSpPr>
        <p:sp>
          <p:nvSpPr>
            <p:cNvPr name="Freeform 23" id="23"/>
            <p:cNvSpPr/>
            <p:nvPr/>
          </p:nvSpPr>
          <p:spPr>
            <a:xfrm flipH="false" flipV="false" rot="0">
              <a:off x="0" y="0"/>
              <a:ext cx="328648" cy="334977"/>
            </a:xfrm>
            <a:custGeom>
              <a:avLst/>
              <a:gdLst/>
              <a:ahLst/>
              <a:cxnLst/>
              <a:rect r="r" b="b" t="t" l="l"/>
              <a:pathLst>
                <a:path h="334977" w="328648">
                  <a:moveTo>
                    <a:pt x="0" y="0"/>
                  </a:moveTo>
                  <a:lnTo>
                    <a:pt x="328648" y="0"/>
                  </a:lnTo>
                  <a:lnTo>
                    <a:pt x="328648" y="334977"/>
                  </a:lnTo>
                  <a:lnTo>
                    <a:pt x="0" y="334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4" id="24"/>
            <p:cNvSpPr txBox="true"/>
            <p:nvPr/>
          </p:nvSpPr>
          <p:spPr>
            <a:xfrm rot="0">
              <a:off x="328648" y="-47625"/>
              <a:ext cx="5858109" cy="2948305"/>
            </a:xfrm>
            <a:prstGeom prst="rect">
              <a:avLst/>
            </a:prstGeom>
          </p:spPr>
          <p:txBody>
            <a:bodyPr anchor="t" rtlCol="false" tIns="0" lIns="0" bIns="0" rIns="0">
              <a:spAutoFit/>
            </a:bodyPr>
            <a:lstStyle/>
            <a:p>
              <a:pPr algn="ctr">
                <a:lnSpc>
                  <a:spcPts val="2939"/>
                </a:lnSpc>
                <a:spcBef>
                  <a:spcPct val="0"/>
                </a:spcBef>
              </a:pPr>
              <a:r>
                <a:rPr lang="en-US" sz="2099">
                  <a:solidFill>
                    <a:srgbClr val="000000"/>
                  </a:solidFill>
                  <a:latin typeface="DG Jory"/>
                  <a:ea typeface="DG Jory"/>
                  <a:cs typeface="DG Jory"/>
                  <a:sym typeface="DG Jory"/>
                </a:rPr>
                <a:t>IMC-max had the highest GSI and DI b</a:t>
              </a:r>
              <a:r>
                <a:rPr lang="en-US" sz="2099">
                  <a:solidFill>
                    <a:srgbClr val="000000"/>
                  </a:solidFill>
                  <a:latin typeface="DG Jory"/>
                  <a:ea typeface="DG Jory"/>
                  <a:cs typeface="DG Jory"/>
                  <a:sym typeface="DG Jory"/>
                </a:rPr>
                <a:t>ut a higher PI than SOC, which gave balanced results with low PI and good SI, while EM again performed poorly with very high SI showing overlapping clusters.</a:t>
              </a:r>
            </a:p>
          </p:txBody>
        </p:sp>
      </p:grpSp>
      <p:sp>
        <p:nvSpPr>
          <p:cNvPr name="Freeform 25" id="25"/>
          <p:cNvSpPr/>
          <p:nvPr/>
        </p:nvSpPr>
        <p:spPr>
          <a:xfrm flipH="false" flipV="false" rot="0">
            <a:off x="156546" y="4608616"/>
            <a:ext cx="5562263" cy="3420792"/>
          </a:xfrm>
          <a:custGeom>
            <a:avLst/>
            <a:gdLst/>
            <a:ahLst/>
            <a:cxnLst/>
            <a:rect r="r" b="b" t="t" l="l"/>
            <a:pathLst>
              <a:path h="3420792" w="5562263">
                <a:moveTo>
                  <a:pt x="0" y="0"/>
                </a:moveTo>
                <a:lnTo>
                  <a:pt x="5562263" y="0"/>
                </a:lnTo>
                <a:lnTo>
                  <a:pt x="5562263" y="3420792"/>
                </a:lnTo>
                <a:lnTo>
                  <a:pt x="0" y="3420792"/>
                </a:lnTo>
                <a:lnTo>
                  <a:pt x="0" y="0"/>
                </a:lnTo>
                <a:close/>
              </a:path>
            </a:pathLst>
          </a:custGeom>
          <a:blipFill>
            <a:blip r:embed="rId10"/>
            <a:stretch>
              <a:fillRect l="0" t="0" r="0" b="0"/>
            </a:stretch>
          </a:blipFill>
        </p:spPr>
      </p:sp>
      <p:sp>
        <p:nvSpPr>
          <p:cNvPr name="TextBox 26" id="26"/>
          <p:cNvSpPr txBox="true"/>
          <p:nvPr/>
        </p:nvSpPr>
        <p:spPr>
          <a:xfrm rot="0">
            <a:off x="432699" y="1945671"/>
            <a:ext cx="3835718" cy="365760"/>
          </a:xfrm>
          <a:prstGeom prst="rect">
            <a:avLst/>
          </a:prstGeom>
        </p:spPr>
        <p:txBody>
          <a:bodyPr anchor="t" rtlCol="false" tIns="0" lIns="0" bIns="0" rIns="0">
            <a:spAutoFit/>
          </a:bodyPr>
          <a:lstStyle/>
          <a:p>
            <a:pPr algn="ctr">
              <a:lnSpc>
                <a:spcPts val="2939"/>
              </a:lnSpc>
            </a:pPr>
            <a:r>
              <a:rPr lang="en-US" b="true" sz="2099">
                <a:solidFill>
                  <a:srgbClr val="000000"/>
                </a:solidFill>
                <a:latin typeface="DG Jory Bold"/>
                <a:ea typeface="DG Jory Bold"/>
                <a:cs typeface="DG Jory Bold"/>
                <a:sym typeface="DG Jory Bold"/>
              </a:rPr>
              <a:t>.Nat</a:t>
            </a:r>
            <a:r>
              <a:rPr lang="en-US" b="true" sz="2099">
                <a:solidFill>
                  <a:srgbClr val="000000"/>
                </a:solidFill>
                <a:latin typeface="DG Jory Bold"/>
                <a:ea typeface="DG Jory Bold"/>
                <a:cs typeface="DG Jory Bold"/>
                <a:sym typeface="DG Jory Bold"/>
              </a:rPr>
              <a:t>ure Image (Optimal Clusters = 2)</a:t>
            </a:r>
          </a:p>
        </p:txBody>
      </p:sp>
      <p:sp>
        <p:nvSpPr>
          <p:cNvPr name="TextBox 27" id="27"/>
          <p:cNvSpPr txBox="true"/>
          <p:nvPr/>
        </p:nvSpPr>
        <p:spPr>
          <a:xfrm rot="0">
            <a:off x="6438023" y="1802796"/>
            <a:ext cx="4898231" cy="365760"/>
          </a:xfrm>
          <a:prstGeom prst="rect">
            <a:avLst/>
          </a:prstGeom>
        </p:spPr>
        <p:txBody>
          <a:bodyPr anchor="t" rtlCol="false" tIns="0" lIns="0" bIns="0" rIns="0">
            <a:spAutoFit/>
          </a:bodyPr>
          <a:lstStyle/>
          <a:p>
            <a:pPr algn="ctr">
              <a:lnSpc>
                <a:spcPts val="2939"/>
              </a:lnSpc>
              <a:spcBef>
                <a:spcPct val="0"/>
              </a:spcBef>
            </a:pPr>
            <a:r>
              <a:rPr lang="en-US" sz="2099">
                <a:solidFill>
                  <a:srgbClr val="000000"/>
                </a:solidFill>
                <a:latin typeface="DG Jory"/>
                <a:ea typeface="DG Jory"/>
                <a:cs typeface="DG Jory"/>
                <a:sym typeface="DG Jory"/>
              </a:rPr>
              <a:t>B</a:t>
            </a:r>
            <a:r>
              <a:rPr lang="en-US" sz="2099">
                <a:solidFill>
                  <a:srgbClr val="000000"/>
                </a:solidFill>
                <a:latin typeface="DG Jory"/>
                <a:ea typeface="DG Jory"/>
                <a:cs typeface="DG Jory"/>
                <a:sym typeface="DG Jory"/>
              </a:rPr>
              <a:t>ottle with Back-lighting (Optimal Clusters = 4)</a:t>
            </a:r>
          </a:p>
        </p:txBody>
      </p:sp>
      <p:sp>
        <p:nvSpPr>
          <p:cNvPr name="TextBox 28" id="28"/>
          <p:cNvSpPr txBox="true"/>
          <p:nvPr/>
        </p:nvSpPr>
        <p:spPr>
          <a:xfrm rot="0">
            <a:off x="13155477" y="1786604"/>
            <a:ext cx="4219218" cy="365760"/>
          </a:xfrm>
          <a:prstGeom prst="rect">
            <a:avLst/>
          </a:prstGeom>
        </p:spPr>
        <p:txBody>
          <a:bodyPr anchor="t" rtlCol="false" tIns="0" lIns="0" bIns="0" rIns="0">
            <a:spAutoFit/>
          </a:bodyPr>
          <a:lstStyle/>
          <a:p>
            <a:pPr algn="ctr">
              <a:lnSpc>
                <a:spcPts val="2939"/>
              </a:lnSpc>
              <a:spcBef>
                <a:spcPct val="0"/>
              </a:spcBef>
            </a:pPr>
            <a:r>
              <a:rPr lang="en-US" sz="2099">
                <a:solidFill>
                  <a:srgbClr val="000000"/>
                </a:solidFill>
                <a:latin typeface="DG Jory"/>
                <a:ea typeface="DG Jory"/>
                <a:cs typeface="DG Jory"/>
                <a:sym typeface="DG Jory"/>
              </a:rPr>
              <a:t>F</a:t>
            </a:r>
            <a:r>
              <a:rPr lang="en-US" sz="2099">
                <a:solidFill>
                  <a:srgbClr val="000000"/>
                </a:solidFill>
                <a:latin typeface="DG Jory"/>
                <a:ea typeface="DG Jory"/>
                <a:cs typeface="DG Jory"/>
                <a:sym typeface="DG Jory"/>
              </a:rPr>
              <a:t>our-Color Image (Optimal Clusters = 4)</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513157" y="142035"/>
            <a:ext cx="9143890" cy="1773330"/>
            <a:chOff x="0" y="0"/>
            <a:chExt cx="12191853" cy="2364440"/>
          </a:xfrm>
        </p:grpSpPr>
        <p:grpSp>
          <p:nvGrpSpPr>
            <p:cNvPr name="Group 3" id="3"/>
            <p:cNvGrpSpPr/>
            <p:nvPr/>
          </p:nvGrpSpPr>
          <p:grpSpPr>
            <a:xfrm rot="0">
              <a:off x="0" y="0"/>
              <a:ext cx="12191853" cy="2364429"/>
              <a:chOff x="0" y="0"/>
              <a:chExt cx="4191091" cy="812800"/>
            </a:xfrm>
          </p:grpSpPr>
          <p:sp>
            <p:nvSpPr>
              <p:cNvPr name="Freeform 4" id="4"/>
              <p:cNvSpPr/>
              <p:nvPr/>
            </p:nvSpPr>
            <p:spPr>
              <a:xfrm flipH="false" flipV="false" rot="0">
                <a:off x="0" y="0"/>
                <a:ext cx="4191091" cy="812800"/>
              </a:xfrm>
              <a:custGeom>
                <a:avLst/>
                <a:gdLst/>
                <a:ahLst/>
                <a:cxnLst/>
                <a:rect r="r" b="b" t="t" l="l"/>
                <a:pathLst>
                  <a:path h="812800" w="4191091">
                    <a:moveTo>
                      <a:pt x="4191091" y="0"/>
                    </a:moveTo>
                    <a:lnTo>
                      <a:pt x="0" y="0"/>
                    </a:lnTo>
                    <a:lnTo>
                      <a:pt x="0" y="624840"/>
                    </a:lnTo>
                    <a:lnTo>
                      <a:pt x="157480" y="624840"/>
                    </a:lnTo>
                    <a:lnTo>
                      <a:pt x="157480" y="812800"/>
                    </a:lnTo>
                    <a:lnTo>
                      <a:pt x="463550" y="624840"/>
                    </a:lnTo>
                    <a:lnTo>
                      <a:pt x="4191091" y="624840"/>
                    </a:lnTo>
                    <a:lnTo>
                      <a:pt x="4191091" y="0"/>
                    </a:lnTo>
                    <a:close/>
                  </a:path>
                </a:pathLst>
              </a:custGeom>
              <a:solidFill>
                <a:srgbClr val="9BDAE9"/>
              </a:solidFill>
              <a:ln cap="sq">
                <a:noFill/>
                <a:prstDash val="solid"/>
                <a:miter/>
              </a:ln>
            </p:spPr>
          </p:sp>
          <p:sp>
            <p:nvSpPr>
              <p:cNvPr name="TextBox 5" id="5"/>
              <p:cNvSpPr txBox="true"/>
              <p:nvPr/>
            </p:nvSpPr>
            <p:spPr>
              <a:xfrm>
                <a:off x="0" y="-47625"/>
                <a:ext cx="4191091" cy="66992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0" y="11"/>
              <a:ext cx="12191853" cy="2364429"/>
              <a:chOff x="0" y="0"/>
              <a:chExt cx="4191091" cy="812800"/>
            </a:xfrm>
          </p:grpSpPr>
          <p:sp>
            <p:nvSpPr>
              <p:cNvPr name="Freeform 7" id="7"/>
              <p:cNvSpPr/>
              <p:nvPr/>
            </p:nvSpPr>
            <p:spPr>
              <a:xfrm flipH="false" flipV="false" rot="0">
                <a:off x="0" y="0"/>
                <a:ext cx="4191091" cy="812800"/>
              </a:xfrm>
              <a:custGeom>
                <a:avLst/>
                <a:gdLst/>
                <a:ahLst/>
                <a:cxnLst/>
                <a:rect r="r" b="b" t="t" l="l"/>
                <a:pathLst>
                  <a:path h="812800" w="4191091">
                    <a:moveTo>
                      <a:pt x="4191091" y="0"/>
                    </a:moveTo>
                    <a:lnTo>
                      <a:pt x="0" y="0"/>
                    </a:lnTo>
                    <a:lnTo>
                      <a:pt x="0" y="624840"/>
                    </a:lnTo>
                    <a:lnTo>
                      <a:pt x="157480" y="624840"/>
                    </a:lnTo>
                    <a:lnTo>
                      <a:pt x="157480" y="812800"/>
                    </a:lnTo>
                    <a:lnTo>
                      <a:pt x="463550" y="624840"/>
                    </a:lnTo>
                    <a:lnTo>
                      <a:pt x="4191091" y="624840"/>
                    </a:lnTo>
                    <a:lnTo>
                      <a:pt x="4191091" y="0"/>
                    </a:lnTo>
                    <a:close/>
                  </a:path>
                </a:pathLst>
              </a:custGeom>
              <a:solidFill>
                <a:srgbClr val="000000">
                  <a:alpha val="0"/>
                </a:srgbClr>
              </a:solidFill>
              <a:ln w="66675" cap="sq">
                <a:solidFill>
                  <a:srgbClr val="56C3D0"/>
                </a:solidFill>
                <a:prstDash val="solid"/>
                <a:miter/>
              </a:ln>
            </p:spPr>
          </p:sp>
          <p:sp>
            <p:nvSpPr>
              <p:cNvPr name="TextBox 8" id="8"/>
              <p:cNvSpPr txBox="true"/>
              <p:nvPr/>
            </p:nvSpPr>
            <p:spPr>
              <a:xfrm>
                <a:off x="0" y="-47625"/>
                <a:ext cx="4191091" cy="669925"/>
              </a:xfrm>
              <a:prstGeom prst="rect">
                <a:avLst/>
              </a:prstGeom>
            </p:spPr>
            <p:txBody>
              <a:bodyPr anchor="ctr" rtlCol="false" tIns="50800" lIns="50800" bIns="50800" rIns="50800"/>
              <a:lstStyle/>
              <a:p>
                <a:pPr algn="ctr">
                  <a:lnSpc>
                    <a:spcPts val="2659"/>
                  </a:lnSpc>
                </a:pPr>
              </a:p>
            </p:txBody>
          </p:sp>
        </p:grpSp>
      </p:grpSp>
      <p:sp>
        <p:nvSpPr>
          <p:cNvPr name="Freeform 9" id="9"/>
          <p:cNvSpPr/>
          <p:nvPr/>
        </p:nvSpPr>
        <p:spPr>
          <a:xfrm flipH="false" flipV="false" rot="0">
            <a:off x="1216049" y="4946263"/>
            <a:ext cx="773322" cy="788214"/>
          </a:xfrm>
          <a:custGeom>
            <a:avLst/>
            <a:gdLst/>
            <a:ahLst/>
            <a:cxnLst/>
            <a:rect r="r" b="b" t="t" l="l"/>
            <a:pathLst>
              <a:path h="788214" w="773322">
                <a:moveTo>
                  <a:pt x="0" y="0"/>
                </a:moveTo>
                <a:lnTo>
                  <a:pt x="773322" y="0"/>
                </a:lnTo>
                <a:lnTo>
                  <a:pt x="773322" y="788214"/>
                </a:lnTo>
                <a:lnTo>
                  <a:pt x="0" y="788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71528" y="2410625"/>
            <a:ext cx="530494" cy="540710"/>
          </a:xfrm>
          <a:custGeom>
            <a:avLst/>
            <a:gdLst/>
            <a:ahLst/>
            <a:cxnLst/>
            <a:rect r="r" b="b" t="t" l="l"/>
            <a:pathLst>
              <a:path h="540710" w="530494">
                <a:moveTo>
                  <a:pt x="0" y="0"/>
                </a:moveTo>
                <a:lnTo>
                  <a:pt x="530494" y="0"/>
                </a:lnTo>
                <a:lnTo>
                  <a:pt x="530494" y="540709"/>
                </a:lnTo>
                <a:lnTo>
                  <a:pt x="0" y="5407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271528" y="3542912"/>
            <a:ext cx="662363" cy="675118"/>
          </a:xfrm>
          <a:custGeom>
            <a:avLst/>
            <a:gdLst/>
            <a:ahLst/>
            <a:cxnLst/>
            <a:rect r="r" b="b" t="t" l="l"/>
            <a:pathLst>
              <a:path h="675118" w="662363">
                <a:moveTo>
                  <a:pt x="0" y="0"/>
                </a:moveTo>
                <a:lnTo>
                  <a:pt x="662363" y="0"/>
                </a:lnTo>
                <a:lnTo>
                  <a:pt x="662363" y="675119"/>
                </a:lnTo>
                <a:lnTo>
                  <a:pt x="0" y="6751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271528" y="6352788"/>
            <a:ext cx="773322" cy="788214"/>
          </a:xfrm>
          <a:custGeom>
            <a:avLst/>
            <a:gdLst/>
            <a:ahLst/>
            <a:cxnLst/>
            <a:rect r="r" b="b" t="t" l="l"/>
            <a:pathLst>
              <a:path h="788214" w="773322">
                <a:moveTo>
                  <a:pt x="0" y="0"/>
                </a:moveTo>
                <a:lnTo>
                  <a:pt x="773322" y="0"/>
                </a:lnTo>
                <a:lnTo>
                  <a:pt x="773322" y="788214"/>
                </a:lnTo>
                <a:lnTo>
                  <a:pt x="0" y="788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2044850" y="7141002"/>
            <a:ext cx="337731" cy="349158"/>
          </a:xfrm>
          <a:custGeom>
            <a:avLst/>
            <a:gdLst/>
            <a:ahLst/>
            <a:cxnLst/>
            <a:rect r="r" b="b" t="t" l="l"/>
            <a:pathLst>
              <a:path h="349158" w="337731">
                <a:moveTo>
                  <a:pt x="0" y="0"/>
                </a:moveTo>
                <a:lnTo>
                  <a:pt x="337731" y="0"/>
                </a:lnTo>
                <a:lnTo>
                  <a:pt x="337731" y="349158"/>
                </a:lnTo>
                <a:lnTo>
                  <a:pt x="0" y="3491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2104006" y="7747165"/>
            <a:ext cx="278576" cy="288001"/>
          </a:xfrm>
          <a:custGeom>
            <a:avLst/>
            <a:gdLst/>
            <a:ahLst/>
            <a:cxnLst/>
            <a:rect r="r" b="b" t="t" l="l"/>
            <a:pathLst>
              <a:path h="288001" w="278576">
                <a:moveTo>
                  <a:pt x="0" y="0"/>
                </a:moveTo>
                <a:lnTo>
                  <a:pt x="278575" y="0"/>
                </a:lnTo>
                <a:lnTo>
                  <a:pt x="278575" y="288001"/>
                </a:lnTo>
                <a:lnTo>
                  <a:pt x="0" y="2880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2044818" y="2951334"/>
            <a:ext cx="309441" cy="319910"/>
          </a:xfrm>
          <a:custGeom>
            <a:avLst/>
            <a:gdLst/>
            <a:ahLst/>
            <a:cxnLst/>
            <a:rect r="r" b="b" t="t" l="l"/>
            <a:pathLst>
              <a:path h="319910" w="309441">
                <a:moveTo>
                  <a:pt x="0" y="0"/>
                </a:moveTo>
                <a:lnTo>
                  <a:pt x="309440" y="0"/>
                </a:lnTo>
                <a:lnTo>
                  <a:pt x="309440" y="319911"/>
                </a:lnTo>
                <a:lnTo>
                  <a:pt x="0" y="3199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5653018" y="433038"/>
            <a:ext cx="9004029" cy="754547"/>
          </a:xfrm>
          <a:prstGeom prst="rect">
            <a:avLst/>
          </a:prstGeom>
        </p:spPr>
        <p:txBody>
          <a:bodyPr anchor="t" rtlCol="false" tIns="0" lIns="0" bIns="0" rIns="0">
            <a:spAutoFit/>
          </a:bodyPr>
          <a:lstStyle/>
          <a:p>
            <a:pPr algn="ctr">
              <a:lnSpc>
                <a:spcPts val="5963"/>
              </a:lnSpc>
            </a:pPr>
            <a:r>
              <a:rPr lang="en-US" sz="4969">
                <a:solidFill>
                  <a:srgbClr val="000000"/>
                </a:solidFill>
                <a:latin typeface="League Spartan"/>
                <a:ea typeface="League Spartan"/>
                <a:cs typeface="League Spartan"/>
                <a:sym typeface="League Spartan"/>
              </a:rPr>
              <a:t>RESULT AND DISCUSSION</a:t>
            </a:r>
          </a:p>
        </p:txBody>
      </p:sp>
      <p:sp>
        <p:nvSpPr>
          <p:cNvPr name="TextBox 17" id="17"/>
          <p:cNvSpPr txBox="true"/>
          <p:nvPr/>
        </p:nvSpPr>
        <p:spPr>
          <a:xfrm rot="0">
            <a:off x="1956206" y="2363000"/>
            <a:ext cx="8618257" cy="422275"/>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DG Jory"/>
                <a:ea typeface="DG Jory"/>
                <a:cs typeface="DG Jory"/>
                <a:sym typeface="DG Jory"/>
              </a:rPr>
              <a:t>Cl</a:t>
            </a:r>
            <a:r>
              <a:rPr lang="en-US" sz="2499">
                <a:solidFill>
                  <a:srgbClr val="000000"/>
                </a:solidFill>
                <a:latin typeface="DG Jory"/>
                <a:ea typeface="DG Jory"/>
                <a:cs typeface="DG Jory"/>
                <a:sym typeface="DG Jory"/>
              </a:rPr>
              <a:t>ustering performance was evaluated using four standard indices:</a:t>
            </a:r>
          </a:p>
        </p:txBody>
      </p:sp>
      <p:sp>
        <p:nvSpPr>
          <p:cNvPr name="TextBox 18" id="18"/>
          <p:cNvSpPr txBox="true"/>
          <p:nvPr/>
        </p:nvSpPr>
        <p:spPr>
          <a:xfrm rot="0">
            <a:off x="1933891" y="3495287"/>
            <a:ext cx="16008616" cy="860425"/>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DG Jory"/>
                <a:ea typeface="DG Jory"/>
                <a:cs typeface="DG Jory"/>
                <a:sym typeface="DG Jory"/>
              </a:rPr>
              <a:t>While s</a:t>
            </a:r>
            <a:r>
              <a:rPr lang="en-US" sz="2499">
                <a:solidFill>
                  <a:srgbClr val="000000"/>
                </a:solidFill>
                <a:latin typeface="DG Jory"/>
                <a:ea typeface="DG Jory"/>
                <a:cs typeface="DG Jory"/>
                <a:sym typeface="DG Jory"/>
              </a:rPr>
              <a:t>ome traditional methods (like K-means and FCM) showed high GSI, they had higher PI and SI, indicating less compact and more overlapping clusters.</a:t>
            </a:r>
          </a:p>
        </p:txBody>
      </p:sp>
      <p:sp>
        <p:nvSpPr>
          <p:cNvPr name="TextBox 19" id="19"/>
          <p:cNvSpPr txBox="true"/>
          <p:nvPr/>
        </p:nvSpPr>
        <p:spPr>
          <a:xfrm rot="0">
            <a:off x="2034516" y="5105420"/>
            <a:ext cx="12997811" cy="42227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DG Jory"/>
                <a:ea typeface="DG Jory"/>
                <a:cs typeface="DG Jory"/>
                <a:sym typeface="DG Jory"/>
              </a:rPr>
              <a:t>EM c</a:t>
            </a:r>
            <a:r>
              <a:rPr lang="en-US" sz="2499">
                <a:solidFill>
                  <a:srgbClr val="000000"/>
                </a:solidFill>
                <a:latin typeface="DG Jory"/>
                <a:ea typeface="DG Jory"/>
                <a:cs typeface="DG Jory"/>
                <a:sym typeface="DG Jory"/>
              </a:rPr>
              <a:t>onsistently performed the worst, with low GSI and very high SI, showing poor cluster separation</a:t>
            </a:r>
          </a:p>
        </p:txBody>
      </p:sp>
      <p:sp>
        <p:nvSpPr>
          <p:cNvPr name="TextBox 20" id="20"/>
          <p:cNvSpPr txBox="true"/>
          <p:nvPr/>
        </p:nvSpPr>
        <p:spPr>
          <a:xfrm rot="0">
            <a:off x="2199538" y="6511945"/>
            <a:ext cx="9974581" cy="42227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DG Jory"/>
                <a:ea typeface="DG Jory"/>
                <a:cs typeface="DG Jory"/>
                <a:sym typeface="DG Jory"/>
              </a:rPr>
              <a:t>SOC dem</a:t>
            </a:r>
            <a:r>
              <a:rPr lang="en-US" sz="2499">
                <a:solidFill>
                  <a:srgbClr val="000000"/>
                </a:solidFill>
                <a:latin typeface="DG Jory"/>
                <a:ea typeface="DG Jory"/>
                <a:cs typeface="DG Jory"/>
                <a:sym typeface="DG Jory"/>
              </a:rPr>
              <a:t>onstrated balanced performance across all four indices in each case.</a:t>
            </a:r>
          </a:p>
        </p:txBody>
      </p:sp>
      <p:sp>
        <p:nvSpPr>
          <p:cNvPr name="TextBox 21" id="21"/>
          <p:cNvSpPr txBox="true"/>
          <p:nvPr/>
        </p:nvSpPr>
        <p:spPr>
          <a:xfrm rot="0">
            <a:off x="2452546" y="7093377"/>
            <a:ext cx="9721572" cy="42227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DG Jory"/>
                <a:ea typeface="DG Jory"/>
                <a:cs typeface="DG Jory"/>
                <a:sym typeface="DG Jory"/>
              </a:rPr>
              <a:t>It maintained l</a:t>
            </a:r>
            <a:r>
              <a:rPr lang="en-US" sz="2499">
                <a:solidFill>
                  <a:srgbClr val="000000"/>
                </a:solidFill>
                <a:latin typeface="DG Jory"/>
                <a:ea typeface="DG Jory"/>
                <a:cs typeface="DG Jory"/>
                <a:sym typeface="DG Jory"/>
              </a:rPr>
              <a:t>ow PI and SI (indicating compact and well-separated clusters),</a:t>
            </a:r>
          </a:p>
        </p:txBody>
      </p:sp>
      <p:sp>
        <p:nvSpPr>
          <p:cNvPr name="TextBox 22" id="22"/>
          <p:cNvSpPr txBox="true"/>
          <p:nvPr/>
        </p:nvSpPr>
        <p:spPr>
          <a:xfrm rot="0">
            <a:off x="2382581" y="7677578"/>
            <a:ext cx="9427833" cy="42227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DG Jory"/>
                <a:ea typeface="DG Jory"/>
                <a:cs typeface="DG Jory"/>
                <a:sym typeface="DG Jory"/>
              </a:rPr>
              <a:t> achieved c</a:t>
            </a:r>
            <a:r>
              <a:rPr lang="en-US" sz="2499">
                <a:solidFill>
                  <a:srgbClr val="000000"/>
                </a:solidFill>
                <a:latin typeface="DG Jory"/>
                <a:ea typeface="DG Jory"/>
                <a:cs typeface="DG Jory"/>
                <a:sym typeface="DG Jory"/>
              </a:rPr>
              <a:t>ompetitive GSI and DI scores, even without any preprocessing.</a:t>
            </a:r>
          </a:p>
        </p:txBody>
      </p:sp>
      <p:sp>
        <p:nvSpPr>
          <p:cNvPr name="TextBox 23" id="23"/>
          <p:cNvSpPr txBox="true"/>
          <p:nvPr/>
        </p:nvSpPr>
        <p:spPr>
          <a:xfrm rot="0">
            <a:off x="2787370" y="2903709"/>
            <a:ext cx="8618257" cy="422275"/>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DG Jory"/>
                <a:ea typeface="DG Jory"/>
                <a:cs typeface="DG Jory"/>
                <a:sym typeface="DG Jory"/>
              </a:rPr>
              <a:t>GSI (Silh</a:t>
            </a:r>
            <a:r>
              <a:rPr lang="en-US" sz="2499">
                <a:solidFill>
                  <a:srgbClr val="000000"/>
                </a:solidFill>
                <a:latin typeface="DG Jory"/>
                <a:ea typeface="DG Jory"/>
                <a:cs typeface="DG Jory"/>
                <a:sym typeface="DG Jory"/>
              </a:rPr>
              <a:t>ouette), PI (Partition), SI (Separation), and DI (Dunn Index).</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3869583" y="2519931"/>
            <a:ext cx="10887439" cy="7395417"/>
          </a:xfrm>
          <a:prstGeom prst="rect">
            <a:avLst/>
          </a:prstGeom>
        </p:spPr>
        <p:txBody>
          <a:bodyPr anchor="t" rtlCol="false" tIns="0" lIns="0" bIns="0" rIns="0">
            <a:spAutoFit/>
          </a:bodyPr>
          <a:lstStyle/>
          <a:p>
            <a:pPr algn="l">
              <a:lnSpc>
                <a:spcPts val="4520"/>
              </a:lnSpc>
            </a:pPr>
            <a:r>
              <a:rPr lang="en-US" sz="3229">
                <a:solidFill>
                  <a:srgbClr val="000000"/>
                </a:solidFill>
                <a:latin typeface="DG Jory"/>
                <a:ea typeface="DG Jory"/>
                <a:cs typeface="DG Jory"/>
                <a:sym typeface="DG Jory"/>
              </a:rPr>
              <a:t>This paper presents the Self-Optimal Clustering (SOC) technique as an optimized extension of the IMC method. </a:t>
            </a:r>
          </a:p>
          <a:p>
            <a:pPr algn="l">
              <a:lnSpc>
                <a:spcPts val="4520"/>
              </a:lnSpc>
            </a:pPr>
            <a:r>
              <a:rPr lang="en-US" sz="3229">
                <a:solidFill>
                  <a:srgbClr val="000000"/>
                </a:solidFill>
                <a:latin typeface="DG Jory"/>
                <a:ea typeface="DG Jory"/>
                <a:cs typeface="DG Jory"/>
                <a:sym typeface="DG Jory"/>
              </a:rPr>
              <a:t>While SOC does not achieve the best results in all cases, it consistently delivers competitive and reliable segmentation performance, especially in real-world image scenarios.</a:t>
            </a:r>
          </a:p>
          <a:p>
            <a:pPr algn="just">
              <a:lnSpc>
                <a:spcPts val="4520"/>
              </a:lnSpc>
            </a:pPr>
            <a:r>
              <a:rPr lang="en-US" sz="3229">
                <a:solidFill>
                  <a:srgbClr val="000000"/>
                </a:solidFill>
                <a:latin typeface="DG Jory"/>
                <a:ea typeface="DG Jory"/>
                <a:cs typeface="DG Jory"/>
                <a:sym typeface="DG Jory"/>
              </a:rPr>
              <a:t>In some benchmarks, IMC-max outperforms SOC in terms of cluster quality indices, and IMC-2 also shows results very close to SOC. </a:t>
            </a:r>
          </a:p>
          <a:p>
            <a:pPr algn="just">
              <a:lnSpc>
                <a:spcPts val="4520"/>
              </a:lnSpc>
            </a:pPr>
            <a:r>
              <a:rPr lang="en-US" sz="3229">
                <a:solidFill>
                  <a:srgbClr val="000000"/>
                </a:solidFill>
                <a:latin typeface="DG Jory"/>
                <a:ea typeface="DG Jory"/>
                <a:cs typeface="DG Jory"/>
                <a:sym typeface="DG Jory"/>
              </a:rPr>
              <a:t>However, both rely on heuristic modifications, while SOC is based on a mathematically optimized threshold function.</a:t>
            </a:r>
          </a:p>
          <a:p>
            <a:pPr algn="l">
              <a:lnSpc>
                <a:spcPts val="4520"/>
              </a:lnSpc>
            </a:pPr>
            <a:r>
              <a:rPr lang="en-US" sz="3229">
                <a:solidFill>
                  <a:srgbClr val="000000"/>
                </a:solidFill>
                <a:latin typeface="DG Jory"/>
                <a:ea typeface="DG Jory"/>
                <a:cs typeface="DG Jory"/>
                <a:sym typeface="DG Jory"/>
              </a:rPr>
              <a:t>Despite not always being the best, SOC demonstrates good clustering accuracy and can be effectively applied in practical image segmentation tasks, proving its real-world usability.</a:t>
            </a:r>
          </a:p>
        </p:txBody>
      </p:sp>
      <p:grpSp>
        <p:nvGrpSpPr>
          <p:cNvPr name="Group 7" id="7"/>
          <p:cNvGrpSpPr/>
          <p:nvPr/>
        </p:nvGrpSpPr>
        <p:grpSpPr>
          <a:xfrm rot="0">
            <a:off x="6075846" y="154873"/>
            <a:ext cx="5994124" cy="1773322"/>
            <a:chOff x="0" y="0"/>
            <a:chExt cx="2747400" cy="812800"/>
          </a:xfrm>
        </p:grpSpPr>
        <p:sp>
          <p:nvSpPr>
            <p:cNvPr name="Freeform 8" id="8"/>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9" id="9"/>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6218030" y="297057"/>
            <a:ext cx="5994124" cy="1773322"/>
            <a:chOff x="0" y="0"/>
            <a:chExt cx="2747400" cy="812800"/>
          </a:xfrm>
        </p:grpSpPr>
        <p:sp>
          <p:nvSpPr>
            <p:cNvPr name="Freeform 11" id="11"/>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name="TextBox 12" id="12"/>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6184406" y="667235"/>
            <a:ext cx="6027748" cy="748598"/>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CONCLUSION</a:t>
            </a:r>
          </a:p>
        </p:txBody>
      </p:sp>
      <p:sp>
        <p:nvSpPr>
          <p:cNvPr name="Freeform 14" id="14"/>
          <p:cNvSpPr/>
          <p:nvPr/>
        </p:nvSpPr>
        <p:spPr>
          <a:xfrm flipH="false" flipV="false" rot="0">
            <a:off x="3149573" y="2529456"/>
            <a:ext cx="530494" cy="540710"/>
          </a:xfrm>
          <a:custGeom>
            <a:avLst/>
            <a:gdLst/>
            <a:ahLst/>
            <a:cxnLst/>
            <a:rect r="r" b="b" t="t" l="l"/>
            <a:pathLst>
              <a:path h="540710" w="530494">
                <a:moveTo>
                  <a:pt x="0" y="0"/>
                </a:moveTo>
                <a:lnTo>
                  <a:pt x="530494" y="0"/>
                </a:lnTo>
                <a:lnTo>
                  <a:pt x="530494" y="540710"/>
                </a:lnTo>
                <a:lnTo>
                  <a:pt x="0" y="5407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3149573" y="3630586"/>
            <a:ext cx="530494" cy="540710"/>
          </a:xfrm>
          <a:custGeom>
            <a:avLst/>
            <a:gdLst/>
            <a:ahLst/>
            <a:cxnLst/>
            <a:rect r="r" b="b" t="t" l="l"/>
            <a:pathLst>
              <a:path h="540710" w="530494">
                <a:moveTo>
                  <a:pt x="0" y="0"/>
                </a:moveTo>
                <a:lnTo>
                  <a:pt x="530494" y="0"/>
                </a:lnTo>
                <a:lnTo>
                  <a:pt x="530494" y="540710"/>
                </a:lnTo>
                <a:lnTo>
                  <a:pt x="0" y="5407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3149573" y="7099824"/>
            <a:ext cx="530494" cy="540710"/>
          </a:xfrm>
          <a:custGeom>
            <a:avLst/>
            <a:gdLst/>
            <a:ahLst/>
            <a:cxnLst/>
            <a:rect r="r" b="b" t="t" l="l"/>
            <a:pathLst>
              <a:path h="540710" w="530494">
                <a:moveTo>
                  <a:pt x="0" y="0"/>
                </a:moveTo>
                <a:lnTo>
                  <a:pt x="530494" y="0"/>
                </a:lnTo>
                <a:lnTo>
                  <a:pt x="530494" y="540710"/>
                </a:lnTo>
                <a:lnTo>
                  <a:pt x="0" y="5407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3149573" y="8202509"/>
            <a:ext cx="530494" cy="540710"/>
          </a:xfrm>
          <a:custGeom>
            <a:avLst/>
            <a:gdLst/>
            <a:ahLst/>
            <a:cxnLst/>
            <a:rect r="r" b="b" t="t" l="l"/>
            <a:pathLst>
              <a:path h="540710" w="530494">
                <a:moveTo>
                  <a:pt x="0" y="0"/>
                </a:moveTo>
                <a:lnTo>
                  <a:pt x="530494" y="0"/>
                </a:lnTo>
                <a:lnTo>
                  <a:pt x="530494" y="540710"/>
                </a:lnTo>
                <a:lnTo>
                  <a:pt x="0" y="5407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3149573" y="5383462"/>
            <a:ext cx="530494" cy="540710"/>
          </a:xfrm>
          <a:custGeom>
            <a:avLst/>
            <a:gdLst/>
            <a:ahLst/>
            <a:cxnLst/>
            <a:rect r="r" b="b" t="t" l="l"/>
            <a:pathLst>
              <a:path h="540710" w="530494">
                <a:moveTo>
                  <a:pt x="0" y="0"/>
                </a:moveTo>
                <a:lnTo>
                  <a:pt x="530494" y="0"/>
                </a:lnTo>
                <a:lnTo>
                  <a:pt x="530494" y="540710"/>
                </a:lnTo>
                <a:lnTo>
                  <a:pt x="0" y="5407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6015614" y="4105874"/>
            <a:ext cx="6256773" cy="2075252"/>
            <a:chOff x="0" y="0"/>
            <a:chExt cx="848415" cy="281403"/>
          </a:xfrm>
        </p:grpSpPr>
        <p:sp>
          <p:nvSpPr>
            <p:cNvPr name="Freeform 7" id="7"/>
            <p:cNvSpPr/>
            <p:nvPr/>
          </p:nvSpPr>
          <p:spPr>
            <a:xfrm flipH="false" flipV="false" rot="0">
              <a:off x="0" y="0"/>
              <a:ext cx="848415" cy="281403"/>
            </a:xfrm>
            <a:custGeom>
              <a:avLst/>
              <a:gdLst/>
              <a:ahLst/>
              <a:cxnLst/>
              <a:rect r="r" b="b" t="t" l="l"/>
              <a:pathLst>
                <a:path h="281403" w="848415">
                  <a:moveTo>
                    <a:pt x="121669" y="0"/>
                  </a:moveTo>
                  <a:lnTo>
                    <a:pt x="726746" y="0"/>
                  </a:lnTo>
                  <a:cubicBezTo>
                    <a:pt x="793942" y="0"/>
                    <a:pt x="848415" y="54473"/>
                    <a:pt x="848415" y="121669"/>
                  </a:cubicBezTo>
                  <a:lnTo>
                    <a:pt x="848415" y="159734"/>
                  </a:lnTo>
                  <a:cubicBezTo>
                    <a:pt x="848415" y="226930"/>
                    <a:pt x="793942" y="281403"/>
                    <a:pt x="726746" y="281403"/>
                  </a:cubicBezTo>
                  <a:lnTo>
                    <a:pt x="121669" y="281403"/>
                  </a:lnTo>
                  <a:cubicBezTo>
                    <a:pt x="54473" y="281403"/>
                    <a:pt x="0" y="226930"/>
                    <a:pt x="0" y="159734"/>
                  </a:cubicBezTo>
                  <a:lnTo>
                    <a:pt x="0" y="121669"/>
                  </a:lnTo>
                  <a:cubicBezTo>
                    <a:pt x="0" y="54473"/>
                    <a:pt x="54473" y="0"/>
                    <a:pt x="121669" y="0"/>
                  </a:cubicBezTo>
                  <a:close/>
                </a:path>
              </a:pathLst>
            </a:custGeom>
            <a:solidFill>
              <a:srgbClr val="9BDAE9"/>
            </a:solidFill>
            <a:ln cap="rnd">
              <a:noFill/>
              <a:prstDash val="solid"/>
              <a:round/>
            </a:ln>
          </p:spPr>
        </p:sp>
        <p:sp>
          <p:nvSpPr>
            <p:cNvPr name="TextBox 8" id="8"/>
            <p:cNvSpPr txBox="true"/>
            <p:nvPr/>
          </p:nvSpPr>
          <p:spPr>
            <a:xfrm>
              <a:off x="0" y="-47625"/>
              <a:ext cx="848415" cy="329028"/>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6015614" y="4105874"/>
            <a:ext cx="6332277" cy="2075252"/>
            <a:chOff x="0" y="0"/>
            <a:chExt cx="858653" cy="281403"/>
          </a:xfrm>
        </p:grpSpPr>
        <p:sp>
          <p:nvSpPr>
            <p:cNvPr name="Freeform 10" id="10"/>
            <p:cNvSpPr/>
            <p:nvPr/>
          </p:nvSpPr>
          <p:spPr>
            <a:xfrm flipH="false" flipV="false" rot="0">
              <a:off x="0" y="0"/>
              <a:ext cx="858653" cy="281403"/>
            </a:xfrm>
            <a:custGeom>
              <a:avLst/>
              <a:gdLst/>
              <a:ahLst/>
              <a:cxnLst/>
              <a:rect r="r" b="b" t="t" l="l"/>
              <a:pathLst>
                <a:path h="281403" w="858653">
                  <a:moveTo>
                    <a:pt x="120218" y="0"/>
                  </a:moveTo>
                  <a:lnTo>
                    <a:pt x="738435" y="0"/>
                  </a:lnTo>
                  <a:cubicBezTo>
                    <a:pt x="804830" y="0"/>
                    <a:pt x="858653" y="53823"/>
                    <a:pt x="858653" y="120218"/>
                  </a:cubicBezTo>
                  <a:lnTo>
                    <a:pt x="858653" y="161185"/>
                  </a:lnTo>
                  <a:cubicBezTo>
                    <a:pt x="858653" y="227580"/>
                    <a:pt x="804830" y="281403"/>
                    <a:pt x="738435" y="281403"/>
                  </a:cubicBezTo>
                  <a:lnTo>
                    <a:pt x="120218" y="281403"/>
                  </a:lnTo>
                  <a:cubicBezTo>
                    <a:pt x="53823" y="281403"/>
                    <a:pt x="0" y="227580"/>
                    <a:pt x="0" y="161185"/>
                  </a:cubicBezTo>
                  <a:lnTo>
                    <a:pt x="0" y="120218"/>
                  </a:lnTo>
                  <a:cubicBezTo>
                    <a:pt x="0" y="53823"/>
                    <a:pt x="53823" y="0"/>
                    <a:pt x="120218" y="0"/>
                  </a:cubicBezTo>
                  <a:close/>
                </a:path>
              </a:pathLst>
            </a:custGeom>
            <a:solidFill>
              <a:srgbClr val="000000">
                <a:alpha val="0"/>
              </a:srgbClr>
            </a:solidFill>
            <a:ln w="66675" cap="rnd">
              <a:solidFill>
                <a:srgbClr val="56C3D0"/>
              </a:solidFill>
              <a:prstDash val="solid"/>
              <a:round/>
            </a:ln>
          </p:spPr>
        </p:sp>
        <p:sp>
          <p:nvSpPr>
            <p:cNvPr name="TextBox 11" id="11"/>
            <p:cNvSpPr txBox="true"/>
            <p:nvPr/>
          </p:nvSpPr>
          <p:spPr>
            <a:xfrm>
              <a:off x="0" y="-47625"/>
              <a:ext cx="858653" cy="329028"/>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6175804" y="4456939"/>
            <a:ext cx="5936391" cy="1484061"/>
          </a:xfrm>
          <a:prstGeom prst="rect">
            <a:avLst/>
          </a:prstGeom>
        </p:spPr>
        <p:txBody>
          <a:bodyPr anchor="t" rtlCol="false" tIns="0" lIns="0" bIns="0" rIns="0">
            <a:spAutoFit/>
          </a:bodyPr>
          <a:lstStyle/>
          <a:p>
            <a:pPr algn="ctr">
              <a:lnSpc>
                <a:spcPts val="5827"/>
              </a:lnSpc>
            </a:pPr>
            <a:r>
              <a:rPr lang="en-US" sz="4856">
                <a:solidFill>
                  <a:srgbClr val="000000"/>
                </a:solidFill>
                <a:latin typeface="League Spartan"/>
                <a:ea typeface="League Spartan"/>
                <a:cs typeface="League Spartan"/>
                <a:sym typeface="League Spartan"/>
              </a:rPr>
              <a:t>IMPLEMENTATION DEMO</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4751838" y="4512818"/>
            <a:ext cx="8784324" cy="1261363"/>
          </a:xfrm>
          <a:prstGeom prst="rect">
            <a:avLst/>
          </a:prstGeom>
        </p:spPr>
        <p:txBody>
          <a:bodyPr anchor="t" rtlCol="false" tIns="0" lIns="0" bIns="0" rIns="0">
            <a:spAutoFit/>
          </a:bodyPr>
          <a:lstStyle/>
          <a:p>
            <a:pPr algn="ctr" marL="0" indent="0" lvl="0">
              <a:lnSpc>
                <a:spcPts val="10012"/>
              </a:lnSpc>
              <a:spcBef>
                <a:spcPct val="0"/>
              </a:spcBef>
            </a:pPr>
            <a:r>
              <a:rPr lang="en-US" b="true" sz="8344" strike="noStrike" u="none">
                <a:solidFill>
                  <a:srgbClr val="000000"/>
                </a:solidFill>
                <a:latin typeface="League Spartan"/>
                <a:ea typeface="League Spartan"/>
                <a:cs typeface="League Spartan"/>
                <a:sym typeface="League Spart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DAGsAo9iNm8</dc:identifier>
  <dcterms:modified xsi:type="dcterms:W3CDTF">2011-08-01T06:04:30Z</dcterms:modified>
  <cp:revision>1</cp:revision>
  <dc:title>SOC </dc:title>
</cp:coreProperties>
</file>